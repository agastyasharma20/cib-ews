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real problem in one sentence before touching the deck: 'HDFC's CA customers don't close accounts when they're unhappy — they quietly move activity to a competitor while the account stays open.' Then say this is a from-scratch, end-to-end project built to demonstrate how you'd approach that as a data scientist, on synthetic data since real data isn't available outside the bank. Mention the navy/red theme is a deliberate nod to HDFC's brand, not their actual logo — shows you thought about professionalism and IP boundaries, which is itself a good signal to a bank's reviewers.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Emphasize 'technically open' — that's the whole insight the project is built around. If asked 'why not just watch balances', that's your cue for the next slide's framing: balance is the LAST thing to move, and the whole value of an early-warning system is watching what moves BEFORE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if the audience includes anyone non-technical (a hiring manager, an HR panelist). It's your elevator pitch — you should be able to say this paragraph from memory without looking at the slide. Everything after this slide is proving each of the three boxes actually works.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not just threshold the balance': explain that an SME's balance naturally swings more than a Large Corporate's, and quarter-end window dressing moves everyone's balance at once — ranking against same-segment, same-month peers cancels both effects out. The seasonal_false_positive row (1.7% flagged) is the proof that a naive dip-detector would have failed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LightGBM 0.000/0.000 precision/recall row is a great interview story: it shows you don't just read the headline metric and stop — you checked a second angle (a fixed threshold) and caught something the PR-AUC alone hid. Lead with that if asked 'tell me about a time you caught your own mistake / a subtle bug'.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your best 'I check my assumptions instead of trusting a library's default' story. Cox is the textbook answer; running check_assumptions() and actually reading the output (11/24 covariates failing) before trusting the hazard ratios is the part worth narrating slowly if asked about statistical rigor.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skip or rush this slide — a negative result you investigated and explained is a STRONGER signal of maturity than another slide of things that worked. If a reviewer asks 'what didn't work', this is the answer, and you already have the root cause (0.88-0.91 correlation) ready, not just 'it didn't help'.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careful with this slide — do not let it sound like you're claiming to know HDFC's real numbers. The point is showing you think about business impact, not just model metrics, while being explicit that the rupee figure is illustrative. If pressed, say plainly: 'I don't have HDFC's real numbers — this shows the mechanism, and I'd want the chance to run it on real data.'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deliberately about what you'd do NEXT, not more of what's already done — use it to show self-awareness of the project's edges and genuine ideas for extending it, which is exactly what an internship interviewer wants to see: can this person keep improving something after the first version ships, not just finish an assignment.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5080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367528" y="1051560"/>
            <a:ext cx="1463040" cy="1463040"/>
          </a:xfrm>
          <a:prstGeom prst="ellipse">
            <a:avLst/>
          </a:prstGeom>
          <a:solidFill>
            <a:srgbClr val="FFFFFF"/>
          </a:solidFill>
          <a:ln w="31750">
            <a:solidFill>
              <a:srgbClr val="E40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400" b="0" i="0">
                <a:solidFill>
                  <a:srgbClr val="E4002B"/>
                </a:solidFill>
                <a:latin typeface="Calibri"/>
              </a:rPr>
              <a:t>🏦</a:t>
            </a:r>
          </a:p>
        </p:txBody>
      </p:sp>
      <p:sp>
        <p:nvSpPr>
          <p:cNvPr id="5" name="TextBox 4"/>
          <p:cNvSpPr txBox="1"/>
          <p:nvPr/>
        </p:nvSpPr>
        <p:spPr>
          <a:xfrm>
            <a:off x="914400" y="2743200"/>
            <a:ext cx="10360152" cy="1188720"/>
          </a:xfrm>
          <a:prstGeom prst="rect">
            <a:avLst/>
          </a:prstGeom>
          <a:noFill/>
        </p:spPr>
        <p:txBody>
          <a:bodyPr wrap="square">
            <a:spAutoFit/>
          </a:bodyPr>
          <a:lstStyle/>
          <a:p>
            <a:pPr algn="ctr"/>
            <a:r>
              <a:rPr sz="4400" b="1" i="0">
                <a:solidFill>
                  <a:srgbClr val="FFFFFF"/>
                </a:solidFill>
                <a:latin typeface="Calibri"/>
              </a:rPr>
              <a:t>CIB Early Warning System</a:t>
            </a:r>
          </a:p>
        </p:txBody>
      </p:sp>
      <p:sp>
        <p:nvSpPr>
          <p:cNvPr id="6" name="TextBox 5"/>
          <p:cNvSpPr txBox="1"/>
          <p:nvPr/>
        </p:nvSpPr>
        <p:spPr>
          <a:xfrm>
            <a:off x="914400" y="4343400"/>
            <a:ext cx="10360152" cy="640080"/>
          </a:xfrm>
          <a:prstGeom prst="rect">
            <a:avLst/>
          </a:prstGeom>
          <a:noFill/>
        </p:spPr>
        <p:txBody>
          <a:bodyPr wrap="square">
            <a:spAutoFit/>
          </a:bodyPr>
          <a:lstStyle/>
          <a:p>
            <a:pPr algn="ctr"/>
            <a:r>
              <a:rPr sz="1800" b="0" i="0">
                <a:solidFill>
                  <a:srgbClr val="CBD5E1"/>
                </a:solidFill>
                <a:latin typeface="Calibri"/>
              </a:rPr>
              <a:t>A 30–90 Day Silent-Deterioration Risk Model for a Current Account / CIB Portfolio</a:t>
            </a:r>
          </a:p>
        </p:txBody>
      </p:sp>
      <p:sp>
        <p:nvSpPr>
          <p:cNvPr id="7" name="TextBox 6"/>
          <p:cNvSpPr txBox="1"/>
          <p:nvPr/>
        </p:nvSpPr>
        <p:spPr>
          <a:xfrm>
            <a:off x="914400" y="5394960"/>
            <a:ext cx="10360152" cy="457200"/>
          </a:xfrm>
          <a:prstGeom prst="rect">
            <a:avLst/>
          </a:prstGeom>
          <a:noFill/>
        </p:spPr>
        <p:txBody>
          <a:bodyPr wrap="none">
            <a:spAutoFit/>
          </a:bodyPr>
          <a:lstStyle/>
          <a:p>
            <a:pPr algn="ctr"/>
            <a:r>
              <a:rPr sz="1300" b="0" i="0">
                <a:solidFill>
                  <a:srgbClr val="FFC1CC"/>
                </a:solidFill>
                <a:latin typeface="Calibri"/>
              </a:rPr>
              <a:t>Agastya Sharma  •  Data Science Internship Portfolio Project  •  github.com/agastyasharma20/cib-ews</a:t>
            </a:r>
          </a:p>
        </p:txBody>
      </p:sp>
      <p:sp>
        <p:nvSpPr>
          <p:cNvPr id="8" name="TextBox 7"/>
          <p:cNvSpPr txBox="1"/>
          <p:nvPr/>
        </p:nvSpPr>
        <p:spPr>
          <a:xfrm>
            <a:off x="914400" y="6035040"/>
            <a:ext cx="10360152" cy="457200"/>
          </a:xfrm>
          <a:prstGeom prst="rect">
            <a:avLst/>
          </a:prstGeom>
          <a:noFill/>
        </p:spPr>
        <p:txBody>
          <a:bodyPr wrap="none">
            <a:spAutoFit/>
          </a:bodyPr>
          <a:lstStyle/>
          <a:p>
            <a:pPr algn="ctr"/>
            <a:r>
              <a:rPr sz="1200" b="0" i="1">
                <a:solidFill>
                  <a:srgbClr val="FCD34D"/>
                </a:solidFill>
                <a:latin typeface="Calibri"/>
              </a:rPr>
              <a:t>⚠ Built entirely on synthetic data — not affiliated with or endorsed by HDFC Bank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11247120" cy="822960"/>
          </a:xfrm>
          <a:prstGeom prst="rect">
            <a:avLst/>
          </a:prstGeom>
          <a:noFill/>
        </p:spPr>
        <p:txBody>
          <a:bodyPr wrap="square" anchor="ctr">
            <a:spAutoFit/>
          </a:bodyPr>
          <a:lstStyle/>
          <a:p>
            <a:r>
              <a:rPr sz="2800" b="1" i="0">
                <a:solidFill>
                  <a:srgbClr val="FFFFFF"/>
                </a:solidFill>
                <a:latin typeface="Calibri"/>
              </a:rPr>
              <a:t>Agenda</a:t>
            </a:r>
          </a:p>
        </p:txBody>
      </p:sp>
      <p:sp>
        <p:nvSpPr>
          <p:cNvPr id="6" name="TextBox 5"/>
          <p:cNvSpPr txBox="1"/>
          <p:nvPr/>
        </p:nvSpPr>
        <p:spPr>
          <a:xfrm>
            <a:off x="640080" y="1417320"/>
            <a:ext cx="10881360" cy="4846320"/>
          </a:xfrm>
          <a:prstGeom prst="rect">
            <a:avLst/>
          </a:prstGeom>
          <a:noFill/>
        </p:spPr>
        <p:txBody>
          <a:bodyPr wrap="square">
            <a:spAutoFit/>
          </a:bodyPr>
          <a:lstStyle/>
          <a:p>
            <a:pPr>
              <a:spcBef>
                <a:spcPts val="1000"/>
              </a:spcBef>
            </a:pPr>
            <a:r>
              <a:rPr sz="1700" b="0" i="0">
                <a:solidFill>
                  <a:srgbClr val="0B2447"/>
                </a:solidFill>
                <a:latin typeface="Calibri"/>
              </a:rPr>
              <a:t>•  1. Business problem — why silent deterioration, not closure</a:t>
            </a:r>
          </a:p>
          <a:p>
            <a:pPr>
              <a:spcBef>
                <a:spcPts val="1000"/>
              </a:spcBef>
            </a:pPr>
            <a:r>
              <a:rPr sz="1700" b="0" i="0">
                <a:solidFill>
                  <a:srgbClr val="0B2447"/>
                </a:solidFill>
                <a:latin typeface="Calibri"/>
              </a:rPr>
              <a:t>•  2. In plain English — the 60-second version</a:t>
            </a:r>
          </a:p>
          <a:p>
            <a:pPr>
              <a:spcBef>
                <a:spcPts val="1000"/>
              </a:spcBef>
            </a:pPr>
            <a:r>
              <a:rPr sz="1700" b="0" i="0">
                <a:solidFill>
                  <a:srgbClr val="0B2447"/>
                </a:solidFill>
                <a:latin typeface="Calibri"/>
              </a:rPr>
              <a:t>•  3. Approach — end-to-end pipeline, 9 phases</a:t>
            </a:r>
          </a:p>
          <a:p>
            <a:pPr>
              <a:spcBef>
                <a:spcPts val="1000"/>
              </a:spcBef>
            </a:pPr>
            <a:r>
              <a:rPr sz="1700" b="0" i="0">
                <a:solidFill>
                  <a:srgbClr val="0B2447"/>
                </a:solidFill>
                <a:latin typeface="Calibri"/>
              </a:rPr>
              <a:t>•  4. Synthetic data &amp; the deterioration index</a:t>
            </a:r>
          </a:p>
          <a:p>
            <a:pPr>
              <a:spcBef>
                <a:spcPts val="1000"/>
              </a:spcBef>
            </a:pPr>
            <a:r>
              <a:rPr sz="1700" b="0" i="0">
                <a:solidFill>
                  <a:srgbClr val="0B2447"/>
                </a:solidFill>
                <a:latin typeface="Calibri"/>
              </a:rPr>
              <a:t>•  5. Feature engineering — 5 signal groups</a:t>
            </a:r>
          </a:p>
          <a:p>
            <a:pPr>
              <a:spcBef>
                <a:spcPts val="1000"/>
              </a:spcBef>
            </a:pPr>
            <a:r>
              <a:rPr sz="1700" b="0" i="0">
                <a:solidFill>
                  <a:srgbClr val="0B2447"/>
                </a:solidFill>
                <a:latin typeface="Calibri"/>
              </a:rPr>
              <a:t>•  6. Model results — baseline → tuned core model</a:t>
            </a:r>
          </a:p>
          <a:p>
            <a:pPr>
              <a:spcBef>
                <a:spcPts val="1000"/>
              </a:spcBef>
            </a:pPr>
            <a:r>
              <a:rPr sz="1700" b="0" i="0">
                <a:solidFill>
                  <a:srgbClr val="0B2447"/>
                </a:solidFill>
                <a:latin typeface="Calibri"/>
              </a:rPr>
              <a:t>•  7. Explainability — SHAP reason codes</a:t>
            </a:r>
          </a:p>
          <a:p>
            <a:pPr>
              <a:spcBef>
                <a:spcPts val="1000"/>
              </a:spcBef>
            </a:pPr>
            <a:r>
              <a:rPr sz="1700" b="0" i="0">
                <a:solidFill>
                  <a:srgbClr val="0B2447"/>
                </a:solidFill>
                <a:latin typeface="Calibri"/>
              </a:rPr>
              <a:t>•  8. Risk sizing &amp; actions — PFaR + RM recommendations</a:t>
            </a:r>
          </a:p>
          <a:p>
            <a:pPr>
              <a:spcBef>
                <a:spcPts val="1000"/>
              </a:spcBef>
            </a:pPr>
            <a:r>
              <a:rPr sz="1700" b="0" i="0">
                <a:solidFill>
                  <a:srgbClr val="0B2447"/>
                </a:solidFill>
                <a:latin typeface="Calibri"/>
              </a:rPr>
              <a:t>•  9. Survival analysis — estimating WHEN, not just IF</a:t>
            </a:r>
          </a:p>
          <a:p>
            <a:pPr>
              <a:spcBef>
                <a:spcPts val="1000"/>
              </a:spcBef>
            </a:pPr>
            <a:r>
              <a:rPr sz="1700" b="0" i="0">
                <a:solidFill>
                  <a:srgbClr val="0B2447"/>
                </a:solidFill>
                <a:latin typeface="Calibri"/>
              </a:rPr>
              <a:t>•  10. Graph feature experiment — an honest negative result</a:t>
            </a:r>
          </a:p>
          <a:p>
            <a:pPr>
              <a:spcBef>
                <a:spcPts val="1000"/>
              </a:spcBef>
            </a:pPr>
            <a:r>
              <a:rPr sz="1700" b="0" i="0">
                <a:solidFill>
                  <a:srgbClr val="0B2447"/>
                </a:solidFill>
                <a:latin typeface="Calibri"/>
              </a:rPr>
              <a:t>•  11. The dashboard</a:t>
            </a:r>
          </a:p>
          <a:p>
            <a:pPr>
              <a:spcBef>
                <a:spcPts val="1000"/>
              </a:spcBef>
            </a:pPr>
            <a:r>
              <a:rPr sz="1700" b="0" i="0">
                <a:solidFill>
                  <a:srgbClr val="0B2447"/>
                </a:solidFill>
                <a:latin typeface="Calibri"/>
              </a:rPr>
              <a:t>•  12. Why this matters for HDFC, and what's next</a:t>
            </a:r>
          </a:p>
        </p:txBody>
      </p:sp>
      <p:sp>
        <p:nvSpPr>
          <p:cNvPr id="7" name="TextBox 6"/>
          <p:cNvSpPr txBox="1"/>
          <p:nvPr/>
        </p:nvSpPr>
        <p:spPr>
          <a:xfrm>
            <a:off x="457200" y="6537960"/>
            <a:ext cx="8229600" cy="274320"/>
          </a:xfrm>
          <a:prstGeom prst="rect">
            <a:avLst/>
          </a:prstGeom>
          <a:noFill/>
        </p:spPr>
        <p:txBody>
          <a:bodyPr wrap="none">
            <a:spAutoFit/>
          </a:bodyPr>
          <a:lstStyle/>
          <a:p>
            <a:r>
              <a:rPr sz="900" b="0" i="0">
                <a:solidFill>
                  <a:srgbClr val="64748B"/>
                </a:solidFill>
                <a:latin typeface="Calibri"/>
              </a:rPr>
              <a:t>CIB Early Warning System  •  Agastya Sharma  •  github.com/agastyasharma20/cib-ews</a:t>
            </a:r>
          </a:p>
        </p:txBody>
      </p:sp>
      <p:sp>
        <p:nvSpPr>
          <p:cNvPr id="8" name="TextBox 7"/>
          <p:cNvSpPr txBox="1"/>
          <p:nvPr/>
        </p:nvSpPr>
        <p:spPr>
          <a:xfrm>
            <a:off x="11247120" y="6537960"/>
            <a:ext cx="548640" cy="274320"/>
          </a:xfrm>
          <a:prstGeom prst="rect">
            <a:avLst/>
          </a:prstGeom>
          <a:noFill/>
        </p:spPr>
        <p:txBody>
          <a:bodyPr wrap="none">
            <a:spAutoFit/>
          </a:bodyPr>
          <a:lstStyle/>
          <a:p>
            <a:pPr algn="r"/>
            <a:r>
              <a:rPr sz="900" b="0" i="0">
                <a:solidFill>
                  <a:srgbClr val="64748B"/>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11247120" cy="822960"/>
          </a:xfrm>
          <a:prstGeom prst="rect">
            <a:avLst/>
          </a:prstGeom>
          <a:noFill/>
        </p:spPr>
        <p:txBody>
          <a:bodyPr wrap="square">
            <a:spAutoFit/>
          </a:bodyPr>
          <a:lstStyle/>
          <a:p>
            <a:r>
              <a:rPr sz="1200" b="1" i="0">
                <a:solidFill>
                  <a:srgbClr val="FFC1CC"/>
                </a:solidFill>
                <a:latin typeface="Calibri"/>
              </a:rPr>
              <a:t>WHY THIS PROJECT EXISTS</a:t>
            </a:r>
          </a:p>
          <a:p>
            <a:r>
              <a:rPr sz="2600" b="1" i="0">
                <a:solidFill>
                  <a:srgbClr val="FFFFFF"/>
                </a:solidFill>
                <a:latin typeface="Calibri"/>
              </a:rPr>
              <a:t>The Business Problem</a:t>
            </a:r>
          </a:p>
        </p:txBody>
      </p:sp>
      <p:sp>
        <p:nvSpPr>
          <p:cNvPr id="6" name="TextBox 5"/>
          <p:cNvSpPr txBox="1"/>
          <p:nvPr/>
        </p:nvSpPr>
        <p:spPr>
          <a:xfrm>
            <a:off x="640080" y="1417320"/>
            <a:ext cx="10881360" cy="4846320"/>
          </a:xfrm>
          <a:prstGeom prst="rect">
            <a:avLst/>
          </a:prstGeom>
          <a:noFill/>
        </p:spPr>
        <p:txBody>
          <a:bodyPr wrap="square">
            <a:spAutoFit/>
          </a:bodyPr>
          <a:lstStyle/>
          <a:p>
            <a:pPr>
              <a:spcBef>
                <a:spcPts val="1800"/>
              </a:spcBef>
            </a:pPr>
            <a:r>
              <a:rPr sz="1900" b="1" i="0">
                <a:solidFill>
                  <a:srgbClr val="B3001F"/>
                </a:solidFill>
                <a:latin typeface="Calibri"/>
              </a:rPr>
              <a:t>Not closure —  </a:t>
            </a:r>
            <a:r>
              <a:rPr sz="1900" b="0" i="0">
                <a:solidFill>
                  <a:srgbClr val="0B2447"/>
                </a:solidFill>
                <a:latin typeface="Calibri"/>
              </a:rPr>
              <a:t>large CA/CIB customers keep the account technically open while quietly shifting balances, transaction flow, payroll, and trade activity to a competing bank.</a:t>
            </a:r>
          </a:p>
          <a:p>
            <a:pPr>
              <a:spcBef>
                <a:spcPts val="1800"/>
              </a:spcBef>
            </a:pPr>
            <a:r>
              <a:rPr sz="1900" b="1" i="0">
                <a:solidFill>
                  <a:srgbClr val="B3001F"/>
                </a:solidFill>
                <a:latin typeface="Calibri"/>
              </a:rPr>
              <a:t>Reactive today —  </a:t>
            </a:r>
            <a:r>
              <a:rPr sz="1900" b="0" i="0">
                <a:solidFill>
                  <a:srgbClr val="0B2447"/>
                </a:solidFill>
                <a:latin typeface="Calibri"/>
              </a:rPr>
              <a:t>RMs typically act only once balance erosion is already visible in monthly reports — by then, most of the wallet share is usually already gone.</a:t>
            </a:r>
          </a:p>
          <a:p>
            <a:pPr>
              <a:spcBef>
                <a:spcPts val="1800"/>
              </a:spcBef>
            </a:pPr>
            <a:r>
              <a:rPr sz="1900" b="1" i="0">
                <a:solidFill>
                  <a:srgbClr val="B3001F"/>
                </a:solidFill>
                <a:latin typeface="Calibri"/>
              </a:rPr>
              <a:t>The ask —  </a:t>
            </a:r>
            <a:r>
              <a:rPr sz="1900" b="0" i="0">
                <a:solidFill>
                  <a:srgbClr val="0B2447"/>
                </a:solidFill>
                <a:latin typeface="Calibri"/>
              </a:rPr>
              <a:t>a system that flags this kind of silent deterioration 30–90 days in advance, explains WHY, estimates roughly WHEN, sizes the exposure, and recommends a specific action.</a:t>
            </a:r>
          </a:p>
        </p:txBody>
      </p:sp>
      <p:sp>
        <p:nvSpPr>
          <p:cNvPr id="7" name="TextBox 6"/>
          <p:cNvSpPr txBox="1"/>
          <p:nvPr/>
        </p:nvSpPr>
        <p:spPr>
          <a:xfrm>
            <a:off x="457200" y="6537960"/>
            <a:ext cx="8229600" cy="274320"/>
          </a:xfrm>
          <a:prstGeom prst="rect">
            <a:avLst/>
          </a:prstGeom>
          <a:noFill/>
        </p:spPr>
        <p:txBody>
          <a:bodyPr wrap="none">
            <a:spAutoFit/>
          </a:bodyPr>
          <a:lstStyle/>
          <a:p>
            <a:r>
              <a:rPr sz="900" b="0" i="0">
                <a:solidFill>
                  <a:srgbClr val="64748B"/>
                </a:solidFill>
                <a:latin typeface="Calibri"/>
              </a:rPr>
              <a:t>CIB Early Warning System  •  Agastya Sharma  •  github.com/agastyasharma20/cib-ews</a:t>
            </a:r>
          </a:p>
        </p:txBody>
      </p:sp>
      <p:sp>
        <p:nvSpPr>
          <p:cNvPr id="8" name="TextBox 7"/>
          <p:cNvSpPr txBox="1"/>
          <p:nvPr/>
        </p:nvSpPr>
        <p:spPr>
          <a:xfrm>
            <a:off x="11247120" y="6537960"/>
            <a:ext cx="548640" cy="274320"/>
          </a:xfrm>
          <a:prstGeom prst="rect">
            <a:avLst/>
          </a:prstGeom>
          <a:noFill/>
        </p:spPr>
        <p:txBody>
          <a:bodyPr wrap="none">
            <a:spAutoFit/>
          </a:bodyPr>
          <a:lstStyle/>
          <a:p>
            <a:pPr algn="r"/>
            <a:r>
              <a:rPr sz="900" b="0" i="0">
                <a:solidFill>
                  <a:srgbClr val="64748B"/>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11247120" cy="822960"/>
          </a:xfrm>
          <a:prstGeom prst="rect">
            <a:avLst/>
          </a:prstGeom>
          <a:noFill/>
        </p:spPr>
        <p:txBody>
          <a:bodyPr wrap="square">
            <a:spAutoFit/>
          </a:bodyPr>
          <a:lstStyle/>
          <a:p>
            <a:r>
              <a:rPr sz="1200" b="1" i="0">
                <a:solidFill>
                  <a:srgbClr val="FFC1CC"/>
                </a:solidFill>
                <a:latin typeface="Calibri"/>
              </a:rPr>
              <a:t>SAME IDEA, NO JARGON — THE 60-SECOND VERSION</a:t>
            </a:r>
          </a:p>
          <a:p>
            <a:r>
              <a:rPr sz="2600" b="1" i="0">
                <a:solidFill>
                  <a:srgbClr val="FFFFFF"/>
                </a:solidFill>
                <a:latin typeface="Calibri"/>
              </a:rPr>
              <a:t>In Plain English</a:t>
            </a:r>
          </a:p>
        </p:txBody>
      </p:sp>
      <p:sp>
        <p:nvSpPr>
          <p:cNvPr id="6" name="TextBox 5"/>
          <p:cNvSpPr txBox="1"/>
          <p:nvPr/>
        </p:nvSpPr>
        <p:spPr>
          <a:xfrm>
            <a:off x="640080" y="1325880"/>
            <a:ext cx="10881360" cy="914400"/>
          </a:xfrm>
          <a:prstGeom prst="rect">
            <a:avLst/>
          </a:prstGeom>
          <a:noFill/>
        </p:spPr>
        <p:txBody>
          <a:bodyPr wrap="square">
            <a:spAutoFit/>
          </a:bodyPr>
          <a:lstStyle/>
          <a:p>
            <a:r>
              <a:rPr sz="1700" b="0" i="1">
                <a:solidFill>
                  <a:srgbClr val="0B2447"/>
                </a:solidFill>
                <a:latin typeface="Calibri"/>
              </a:rPr>
              <a:t>Imagine a company banks with HDFC. They don't close the account — they just quietly start routing payments, salaries, and trade deals through a rival bank instead. By the time the balance visibly drops, they're already mostly gone.</a:t>
            </a:r>
          </a:p>
        </p:txBody>
      </p:sp>
      <p:sp>
        <p:nvSpPr>
          <p:cNvPr id="7" name="Rounded Rectangle 6"/>
          <p:cNvSpPr/>
          <p:nvPr/>
        </p:nvSpPr>
        <p:spPr>
          <a:xfrm>
            <a:off x="640080" y="2514600"/>
            <a:ext cx="3413760" cy="2103120"/>
          </a:xfrm>
          <a:prstGeom prst="round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a:lstStyle/>
          <a:p>
            <a:pPr algn="ctr"/>
            <a:r>
              <a:rPr sz="1900" b="1" i="0">
                <a:solidFill>
                  <a:srgbClr val="FFFFFF"/>
                </a:solidFill>
                <a:latin typeface="Calibri"/>
              </a:rPr>
              <a:t>1. WATCH</a:t>
            </a:r>
          </a:p>
          <a:p>
            <a:pPr algn="ctr">
              <a:spcBef>
                <a:spcPts val="600"/>
              </a:spcBef>
            </a:pPr>
            <a:r>
              <a:rPr sz="1300" b="0" i="0">
                <a:solidFill>
                  <a:srgbClr val="E2E8F0"/>
                </a:solidFill>
                <a:latin typeface="Calibri"/>
              </a:rPr>
              <a:t>Every month, compare each customer's recent behavior to their own history and to similar peers.</a:t>
            </a:r>
          </a:p>
        </p:txBody>
      </p:sp>
      <p:sp>
        <p:nvSpPr>
          <p:cNvPr id="8" name="Rounded Rectangle 7"/>
          <p:cNvSpPr/>
          <p:nvPr/>
        </p:nvSpPr>
        <p:spPr>
          <a:xfrm>
            <a:off x="4373880" y="2514600"/>
            <a:ext cx="3413760" cy="2103120"/>
          </a:xfrm>
          <a:prstGeom prst="roundRect">
            <a:avLst/>
          </a:prstGeom>
          <a:solidFill>
            <a:srgbClr val="B300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a:lstStyle/>
          <a:p>
            <a:pPr algn="ctr"/>
            <a:r>
              <a:rPr sz="1900" b="1" i="0">
                <a:solidFill>
                  <a:srgbClr val="FFFFFF"/>
                </a:solidFill>
                <a:latin typeface="Calibri"/>
              </a:rPr>
              <a:t>2. EXPLAIN</a:t>
            </a:r>
          </a:p>
          <a:p>
            <a:pPr algn="ctr">
              <a:spcBef>
                <a:spcPts val="600"/>
              </a:spcBef>
            </a:pPr>
            <a:r>
              <a:rPr sz="1300" b="0" i="0">
                <a:solidFill>
                  <a:srgbClr val="E2E8F0"/>
                </a:solidFill>
                <a:latin typeface="Calibri"/>
              </a:rPr>
              <a:t>If something looks like quiet drifting-away, say exactly which behaviors are driving that — in plain English.</a:t>
            </a:r>
          </a:p>
        </p:txBody>
      </p:sp>
      <p:sp>
        <p:nvSpPr>
          <p:cNvPr id="9" name="Rounded Rectangle 8"/>
          <p:cNvSpPr/>
          <p:nvPr/>
        </p:nvSpPr>
        <p:spPr>
          <a:xfrm>
            <a:off x="8107680" y="2514600"/>
            <a:ext cx="3413760" cy="2103120"/>
          </a:xfrm>
          <a:prstGeom prst="roundRect">
            <a:avLst/>
          </a:prstGeom>
          <a:solidFill>
            <a:srgbClr val="19376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a:lstStyle/>
          <a:p>
            <a:pPr algn="ctr"/>
            <a:r>
              <a:rPr sz="1900" b="1" i="0">
                <a:solidFill>
                  <a:srgbClr val="FFFFFF"/>
                </a:solidFill>
                <a:latin typeface="Calibri"/>
              </a:rPr>
              <a:t>3. ACT</a:t>
            </a:r>
          </a:p>
          <a:p>
            <a:pPr algn="ctr">
              <a:spcBef>
                <a:spcPts val="600"/>
              </a:spcBef>
            </a:pPr>
            <a:r>
              <a:rPr sz="1300" b="0" i="0">
                <a:solidFill>
                  <a:srgbClr val="E2E8F0"/>
                </a:solidFill>
                <a:latin typeface="Calibri"/>
              </a:rPr>
              <a:t>Estimate roughly when it'll get serious, size the ₹ at risk, and hand the RM one specific action.</a:t>
            </a:r>
          </a:p>
        </p:txBody>
      </p:sp>
      <p:sp>
        <p:nvSpPr>
          <p:cNvPr id="10" name="TextBox 9"/>
          <p:cNvSpPr txBox="1"/>
          <p:nvPr/>
        </p:nvSpPr>
        <p:spPr>
          <a:xfrm>
            <a:off x="640080" y="5029200"/>
            <a:ext cx="10881360" cy="365760"/>
          </a:xfrm>
          <a:prstGeom prst="rect">
            <a:avLst/>
          </a:prstGeom>
          <a:noFill/>
        </p:spPr>
        <p:txBody>
          <a:bodyPr wrap="none">
            <a:spAutoFit/>
          </a:bodyPr>
          <a:lstStyle/>
          <a:p>
            <a:pPr algn="ctr"/>
            <a:r>
              <a:rPr sz="1100" b="0" i="1">
                <a:solidFill>
                  <a:srgbClr val="64748B"/>
                </a:solidFill>
                <a:latin typeface="Calibri"/>
              </a:rPr>
              <a:t>The rest of this deck is how each of those three steps was actually built and validated.</a:t>
            </a:r>
          </a:p>
        </p:txBody>
      </p:sp>
      <p:sp>
        <p:nvSpPr>
          <p:cNvPr id="11" name="TextBox 10"/>
          <p:cNvSpPr txBox="1"/>
          <p:nvPr/>
        </p:nvSpPr>
        <p:spPr>
          <a:xfrm>
            <a:off x="457200" y="6537960"/>
            <a:ext cx="8229600" cy="274320"/>
          </a:xfrm>
          <a:prstGeom prst="rect">
            <a:avLst/>
          </a:prstGeom>
          <a:noFill/>
        </p:spPr>
        <p:txBody>
          <a:bodyPr wrap="none">
            <a:spAutoFit/>
          </a:bodyPr>
          <a:lstStyle/>
          <a:p>
            <a:r>
              <a:rPr sz="900" b="0" i="0">
                <a:solidFill>
                  <a:srgbClr val="64748B"/>
                </a:solidFill>
                <a:latin typeface="Calibri"/>
              </a:rPr>
              <a:t>CIB Early Warning System  •  Agastya Sharma  •  github.com/agastyasharma20/cib-ews</a:t>
            </a:r>
          </a:p>
        </p:txBody>
      </p:sp>
      <p:sp>
        <p:nvSpPr>
          <p:cNvPr id="12" name="TextBox 11"/>
          <p:cNvSpPr txBox="1"/>
          <p:nvPr/>
        </p:nvSpPr>
        <p:spPr>
          <a:xfrm>
            <a:off x="11247120" y="6537960"/>
            <a:ext cx="548640" cy="274320"/>
          </a:xfrm>
          <a:prstGeom prst="rect">
            <a:avLst/>
          </a:prstGeom>
          <a:noFill/>
        </p:spPr>
        <p:txBody>
          <a:bodyPr wrap="none">
            <a:spAutoFit/>
          </a:bodyPr>
          <a:lstStyle/>
          <a:p>
            <a:pPr algn="r"/>
            <a:r>
              <a:rPr sz="900" b="0" i="0">
                <a:solidFill>
                  <a:srgbClr val="64748B"/>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11247120" cy="822960"/>
          </a:xfrm>
          <a:prstGeom prst="rect">
            <a:avLst/>
          </a:prstGeom>
          <a:noFill/>
        </p:spPr>
        <p:txBody>
          <a:bodyPr wrap="square">
            <a:spAutoFit/>
          </a:bodyPr>
          <a:lstStyle/>
          <a:p>
            <a:r>
              <a:rPr sz="1200" b="1" i="0">
                <a:solidFill>
                  <a:srgbClr val="FFC1CC"/>
                </a:solidFill>
                <a:latin typeface="Calibri"/>
              </a:rPr>
              <a:t>9 PHASES, ONE PIPELINE</a:t>
            </a:r>
          </a:p>
          <a:p>
            <a:r>
              <a:rPr sz="2600" b="1" i="0">
                <a:solidFill>
                  <a:srgbClr val="FFFFFF"/>
                </a:solidFill>
                <a:latin typeface="Calibri"/>
              </a:rPr>
              <a:t>End-to-End Approach</a:t>
            </a:r>
          </a:p>
        </p:txBody>
      </p:sp>
      <p:sp>
        <p:nvSpPr>
          <p:cNvPr id="6" name="Rounded Rectangle 5"/>
          <p:cNvSpPr/>
          <p:nvPr/>
        </p:nvSpPr>
        <p:spPr>
          <a:xfrm>
            <a:off x="777240" y="1554480"/>
            <a:ext cx="3383280" cy="1051560"/>
          </a:xfrm>
          <a:prstGeom prst="round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1. </a:t>
            </a:r>
            <a:r>
              <a:rPr sz="1500" b="1" i="0">
                <a:solidFill>
                  <a:srgbClr val="FFFFFF"/>
                </a:solidFill>
                <a:latin typeface="Calibri"/>
              </a:rPr>
              <a:t>Synthetic Data</a:t>
            </a:r>
          </a:p>
        </p:txBody>
      </p:sp>
      <p:sp>
        <p:nvSpPr>
          <p:cNvPr id="7" name="Rounded Rectangle 6"/>
          <p:cNvSpPr/>
          <p:nvPr/>
        </p:nvSpPr>
        <p:spPr>
          <a:xfrm>
            <a:off x="4434840" y="1554480"/>
            <a:ext cx="3383280" cy="1051560"/>
          </a:xfrm>
          <a:prstGeom prst="roundRect">
            <a:avLst/>
          </a:prstGeom>
          <a:solidFill>
            <a:srgbClr val="B300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2. </a:t>
            </a:r>
            <a:r>
              <a:rPr sz="1500" b="1" i="0">
                <a:solidFill>
                  <a:srgbClr val="FFFFFF"/>
                </a:solidFill>
                <a:latin typeface="Calibri"/>
              </a:rPr>
              <a:t>Labeling &amp; Features</a:t>
            </a:r>
          </a:p>
        </p:txBody>
      </p:sp>
      <p:sp>
        <p:nvSpPr>
          <p:cNvPr id="8" name="Rounded Rectangle 7"/>
          <p:cNvSpPr/>
          <p:nvPr/>
        </p:nvSpPr>
        <p:spPr>
          <a:xfrm>
            <a:off x="8092440" y="1554480"/>
            <a:ext cx="3383280" cy="1051560"/>
          </a:xfrm>
          <a:prstGeom prst="round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3. </a:t>
            </a:r>
            <a:r>
              <a:rPr sz="1500" b="1" i="0">
                <a:solidFill>
                  <a:srgbClr val="FFFFFF"/>
                </a:solidFill>
                <a:latin typeface="Calibri"/>
              </a:rPr>
              <a:t>Baseline Model</a:t>
            </a:r>
          </a:p>
        </p:txBody>
      </p:sp>
      <p:sp>
        <p:nvSpPr>
          <p:cNvPr id="9" name="Rounded Rectangle 8"/>
          <p:cNvSpPr/>
          <p:nvPr/>
        </p:nvSpPr>
        <p:spPr>
          <a:xfrm>
            <a:off x="777240" y="2926080"/>
            <a:ext cx="3383280" cy="1051560"/>
          </a:xfrm>
          <a:prstGeom prst="roundRect">
            <a:avLst/>
          </a:prstGeom>
          <a:solidFill>
            <a:srgbClr val="B300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4. </a:t>
            </a:r>
            <a:r>
              <a:rPr sz="1500" b="1" i="0">
                <a:solidFill>
                  <a:srgbClr val="FFFFFF"/>
                </a:solidFill>
                <a:latin typeface="Calibri"/>
              </a:rPr>
              <a:t>Tuned Core Model</a:t>
            </a:r>
          </a:p>
        </p:txBody>
      </p:sp>
      <p:sp>
        <p:nvSpPr>
          <p:cNvPr id="10" name="Rounded Rectangle 9"/>
          <p:cNvSpPr/>
          <p:nvPr/>
        </p:nvSpPr>
        <p:spPr>
          <a:xfrm>
            <a:off x="4434840" y="2926080"/>
            <a:ext cx="3383280" cy="1051560"/>
          </a:xfrm>
          <a:prstGeom prst="round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5. </a:t>
            </a:r>
            <a:r>
              <a:rPr sz="1500" b="1" i="0">
                <a:solidFill>
                  <a:srgbClr val="FFFFFF"/>
                </a:solidFill>
                <a:latin typeface="Calibri"/>
              </a:rPr>
              <a:t>Explainability (SHAP)</a:t>
            </a:r>
          </a:p>
        </p:txBody>
      </p:sp>
      <p:sp>
        <p:nvSpPr>
          <p:cNvPr id="11" name="Rounded Rectangle 10"/>
          <p:cNvSpPr/>
          <p:nvPr/>
        </p:nvSpPr>
        <p:spPr>
          <a:xfrm>
            <a:off x="8092440" y="2926080"/>
            <a:ext cx="3383280" cy="1051560"/>
          </a:xfrm>
          <a:prstGeom prst="roundRect">
            <a:avLst/>
          </a:prstGeom>
          <a:solidFill>
            <a:srgbClr val="B300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6. </a:t>
            </a:r>
            <a:r>
              <a:rPr sz="1500" b="1" i="0">
                <a:solidFill>
                  <a:srgbClr val="FFFFFF"/>
                </a:solidFill>
                <a:latin typeface="Calibri"/>
              </a:rPr>
              <a:t>PFaR + RM Actions</a:t>
            </a:r>
          </a:p>
        </p:txBody>
      </p:sp>
      <p:sp>
        <p:nvSpPr>
          <p:cNvPr id="12" name="Rounded Rectangle 11"/>
          <p:cNvSpPr/>
          <p:nvPr/>
        </p:nvSpPr>
        <p:spPr>
          <a:xfrm>
            <a:off x="777240" y="4297680"/>
            <a:ext cx="3383280" cy="1051560"/>
          </a:xfrm>
          <a:prstGeom prst="round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7. </a:t>
            </a:r>
            <a:r>
              <a:rPr sz="1500" b="1" i="0">
                <a:solidFill>
                  <a:srgbClr val="FFFFFF"/>
                </a:solidFill>
                <a:latin typeface="Calibri"/>
              </a:rPr>
              <a:t>Survival Analysis</a:t>
            </a:r>
          </a:p>
        </p:txBody>
      </p:sp>
      <p:sp>
        <p:nvSpPr>
          <p:cNvPr id="13" name="Rounded Rectangle 12"/>
          <p:cNvSpPr/>
          <p:nvPr/>
        </p:nvSpPr>
        <p:spPr>
          <a:xfrm>
            <a:off x="4434840" y="4297680"/>
            <a:ext cx="3383280" cy="1051560"/>
          </a:xfrm>
          <a:prstGeom prst="roundRect">
            <a:avLst/>
          </a:prstGeom>
          <a:solidFill>
            <a:srgbClr val="B300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8. </a:t>
            </a:r>
            <a:r>
              <a:rPr sz="1500" b="1" i="0">
                <a:solidFill>
                  <a:srgbClr val="FFFFFF"/>
                </a:solidFill>
                <a:latin typeface="Calibri"/>
              </a:rPr>
              <a:t>Graph Feature</a:t>
            </a:r>
          </a:p>
        </p:txBody>
      </p:sp>
      <p:sp>
        <p:nvSpPr>
          <p:cNvPr id="14" name="Rounded Rectangle 13"/>
          <p:cNvSpPr/>
          <p:nvPr/>
        </p:nvSpPr>
        <p:spPr>
          <a:xfrm>
            <a:off x="8092440" y="4297680"/>
            <a:ext cx="3383280" cy="1051560"/>
          </a:xfrm>
          <a:prstGeom prst="round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9. </a:t>
            </a:r>
            <a:r>
              <a:rPr sz="1500" b="1" i="0">
                <a:solidFill>
                  <a:srgbClr val="FFFFFF"/>
                </a:solidFill>
                <a:latin typeface="Calibri"/>
              </a:rPr>
              <a:t>Dashboard</a:t>
            </a:r>
          </a:p>
        </p:txBody>
      </p:sp>
      <p:sp>
        <p:nvSpPr>
          <p:cNvPr id="15" name="TextBox 14"/>
          <p:cNvSpPr txBox="1"/>
          <p:nvPr/>
        </p:nvSpPr>
        <p:spPr>
          <a:xfrm>
            <a:off x="640080" y="6400800"/>
            <a:ext cx="10881360" cy="365760"/>
          </a:xfrm>
          <a:prstGeom prst="rect">
            <a:avLst/>
          </a:prstGeom>
          <a:noFill/>
        </p:spPr>
        <p:txBody>
          <a:bodyPr wrap="none">
            <a:spAutoFit/>
          </a:bodyPr>
          <a:lstStyle/>
          <a:p>
            <a:pPr algn="ctr"/>
            <a:r>
              <a:rPr sz="1100" b="0" i="1">
                <a:solidFill>
                  <a:srgbClr val="64748B"/>
                </a:solidFill>
                <a:latin typeface="Calibri"/>
              </a:rPr>
              <a:t>Every stage reads/writes through src/config.py's file paths — a real data source swaps in at ONE seam, nothing downstream rebuilds.</a:t>
            </a:r>
          </a:p>
        </p:txBody>
      </p:sp>
      <p:sp>
        <p:nvSpPr>
          <p:cNvPr id="16" name="TextBox 15"/>
          <p:cNvSpPr txBox="1"/>
          <p:nvPr/>
        </p:nvSpPr>
        <p:spPr>
          <a:xfrm>
            <a:off x="457200" y="6537960"/>
            <a:ext cx="8229600" cy="274320"/>
          </a:xfrm>
          <a:prstGeom prst="rect">
            <a:avLst/>
          </a:prstGeom>
          <a:noFill/>
        </p:spPr>
        <p:txBody>
          <a:bodyPr wrap="none">
            <a:spAutoFit/>
          </a:bodyPr>
          <a:lstStyle/>
          <a:p>
            <a:r>
              <a:rPr sz="900" b="0" i="0">
                <a:solidFill>
                  <a:srgbClr val="64748B"/>
                </a:solidFill>
                <a:latin typeface="Calibri"/>
              </a:rPr>
              <a:t>CIB Early Warning System  •  Agastya Sharma  •  github.com/agastyasharma20/cib-ews</a:t>
            </a:r>
          </a:p>
        </p:txBody>
      </p:sp>
      <p:sp>
        <p:nvSpPr>
          <p:cNvPr id="17" name="TextBox 16"/>
          <p:cNvSpPr txBox="1"/>
          <p:nvPr/>
        </p:nvSpPr>
        <p:spPr>
          <a:xfrm>
            <a:off x="11247120" y="6537960"/>
            <a:ext cx="548640" cy="274320"/>
          </a:xfrm>
          <a:prstGeom prst="rect">
            <a:avLst/>
          </a:prstGeom>
          <a:noFill/>
        </p:spPr>
        <p:txBody>
          <a:bodyPr wrap="none">
            <a:spAutoFit/>
          </a:bodyPr>
          <a:lstStyle/>
          <a:p>
            <a:pPr algn="r"/>
            <a:r>
              <a:rPr sz="900" b="0" i="0">
                <a:solidFill>
                  <a:srgbClr val="64748B"/>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11247120" cy="822960"/>
          </a:xfrm>
          <a:prstGeom prst="rect">
            <a:avLst/>
          </a:prstGeom>
          <a:noFill/>
        </p:spPr>
        <p:txBody>
          <a:bodyPr wrap="square">
            <a:spAutoFit/>
          </a:bodyPr>
          <a:lstStyle/>
          <a:p>
            <a:r>
              <a:rPr sz="1200" b="1" i="0">
                <a:solidFill>
                  <a:srgbClr val="FFC1CC"/>
                </a:solidFill>
                <a:latin typeface="Calibri"/>
              </a:rPr>
              <a:t>PHASE 1 — WITH HIDDEN GROUND TRUTH FOR VALIDATION</a:t>
            </a:r>
          </a:p>
          <a:p>
            <a:r>
              <a:rPr sz="2600" b="1" i="0">
                <a:solidFill>
                  <a:srgbClr val="FFFFFF"/>
                </a:solidFill>
                <a:latin typeface="Calibri"/>
              </a:rPr>
              <a:t>Synthetic Data: 4 Planted Cohorts</a:t>
            </a:r>
          </a:p>
        </p:txBody>
      </p:sp>
      <p:pic>
        <p:nvPicPr>
          <p:cNvPr id="6" name="Picture 5" descr="amb_trajectory_by_cohort.png"/>
          <p:cNvPicPr>
            <a:picLocks noChangeAspect="1"/>
          </p:cNvPicPr>
          <p:nvPr/>
        </p:nvPicPr>
        <p:blipFill>
          <a:blip r:embed="rId2"/>
          <a:stretch>
            <a:fillRect/>
          </a:stretch>
        </p:blipFill>
        <p:spPr>
          <a:xfrm>
            <a:off x="2285847" y="1280160"/>
            <a:ext cx="7620000" cy="4572000"/>
          </a:xfrm>
          <a:prstGeom prst="rect">
            <a:avLst/>
          </a:prstGeom>
        </p:spPr>
      </p:pic>
      <p:sp>
        <p:nvSpPr>
          <p:cNvPr id="7" name="TextBox 6"/>
          <p:cNvSpPr txBox="1"/>
          <p:nvPr/>
        </p:nvSpPr>
        <p:spPr>
          <a:xfrm>
            <a:off x="640080" y="5989320"/>
            <a:ext cx="10881360" cy="365760"/>
          </a:xfrm>
          <a:prstGeom prst="rect">
            <a:avLst/>
          </a:prstGeom>
          <a:noFill/>
        </p:spPr>
        <p:txBody>
          <a:bodyPr wrap="none">
            <a:spAutoFit/>
          </a:bodyPr>
          <a:lstStyle/>
          <a:p>
            <a:pPr algn="ctr"/>
            <a:r>
              <a:rPr sz="1100" b="0" i="1">
                <a:solidFill>
                  <a:srgbClr val="64748B"/>
                </a:solidFill>
                <a:latin typeface="Calibri"/>
              </a:rPr>
              <a:t>5,000 customers × 18 months. stable (55%) / gradual (20%) / sudden (10%) / seasonal_false_positive (15%, deliberately NOT deterioration).</a:t>
            </a:r>
          </a:p>
        </p:txBody>
      </p:sp>
      <p:sp>
        <p:nvSpPr>
          <p:cNvPr id="8" name="TextBox 7"/>
          <p:cNvSpPr txBox="1"/>
          <p:nvPr/>
        </p:nvSpPr>
        <p:spPr>
          <a:xfrm>
            <a:off x="457200" y="6537960"/>
            <a:ext cx="8229600" cy="274320"/>
          </a:xfrm>
          <a:prstGeom prst="rect">
            <a:avLst/>
          </a:prstGeom>
          <a:noFill/>
        </p:spPr>
        <p:txBody>
          <a:bodyPr wrap="none">
            <a:spAutoFit/>
          </a:bodyPr>
          <a:lstStyle/>
          <a:p>
            <a:r>
              <a:rPr sz="900" b="0" i="0">
                <a:solidFill>
                  <a:srgbClr val="64748B"/>
                </a:solidFill>
                <a:latin typeface="Calibri"/>
              </a:rPr>
              <a:t>CIB Early Warning System  •  Agastya Sharma  •  github.com/agastyasharma20/cib-ews</a:t>
            </a:r>
          </a:p>
        </p:txBody>
      </p:sp>
      <p:sp>
        <p:nvSpPr>
          <p:cNvPr id="9" name="TextBox 8"/>
          <p:cNvSpPr txBox="1"/>
          <p:nvPr/>
        </p:nvSpPr>
        <p:spPr>
          <a:xfrm>
            <a:off x="11247120" y="6537960"/>
            <a:ext cx="548640" cy="274320"/>
          </a:xfrm>
          <a:prstGeom prst="rect">
            <a:avLst/>
          </a:prstGeom>
          <a:noFill/>
        </p:spPr>
        <p:txBody>
          <a:bodyPr wrap="none">
            <a:spAutoFit/>
          </a:bodyPr>
          <a:lstStyle/>
          <a:p>
            <a:pPr algn="r"/>
            <a:r>
              <a:rPr sz="900" b="0" i="0">
                <a:solidFill>
                  <a:srgbClr val="64748B"/>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11247120" cy="822960"/>
          </a:xfrm>
          <a:prstGeom prst="rect">
            <a:avLst/>
          </a:prstGeom>
          <a:noFill/>
        </p:spPr>
        <p:txBody>
          <a:bodyPr wrap="square">
            <a:spAutoFit/>
          </a:bodyPr>
          <a:lstStyle/>
          <a:p>
            <a:r>
              <a:rPr sz="1200" b="1" i="0">
                <a:solidFill>
                  <a:srgbClr val="FFC1CC"/>
                </a:solidFill>
                <a:latin typeface="Calibri"/>
              </a:rPr>
              <a:t>PHASE 2 — PERCENTILE-RANKED, NOT A FLAT THRESHOLD</a:t>
            </a:r>
          </a:p>
          <a:p>
            <a:r>
              <a:rPr sz="2600" b="1" i="0">
                <a:solidFill>
                  <a:srgbClr val="FFFFFF"/>
                </a:solidFill>
                <a:latin typeface="Calibri"/>
              </a:rPr>
              <a:t>The Deterioration Index</a:t>
            </a:r>
          </a:p>
        </p:txBody>
      </p:sp>
      <p:sp>
        <p:nvSpPr>
          <p:cNvPr id="6" name="TextBox 5"/>
          <p:cNvSpPr txBox="1"/>
          <p:nvPr/>
        </p:nvSpPr>
        <p:spPr>
          <a:xfrm>
            <a:off x="640080" y="1371600"/>
            <a:ext cx="10881360" cy="2103120"/>
          </a:xfrm>
          <a:prstGeom prst="rect">
            <a:avLst/>
          </a:prstGeom>
          <a:noFill/>
        </p:spPr>
        <p:txBody>
          <a:bodyPr wrap="square">
            <a:spAutoFit/>
          </a:bodyPr>
          <a:lstStyle/>
          <a:p>
            <a:pPr>
              <a:spcBef>
                <a:spcPts val="1000"/>
              </a:spcBef>
            </a:pPr>
            <a:r>
              <a:rPr sz="1700" b="0" i="0">
                <a:solidFill>
                  <a:srgbClr val="0B2447"/>
                </a:solidFill>
                <a:latin typeface="Calibri"/>
              </a:rPr>
              <a:t>•  Composite score: AMB decline (35%) + transaction decline (30%) + digital decline (15%) + payroll/trade decline (20%)</a:t>
            </a:r>
          </a:p>
          <a:p>
            <a:pPr>
              <a:spcBef>
                <a:spcPts val="1000"/>
              </a:spcBef>
            </a:pPr>
            <a:r>
              <a:rPr sz="1700" b="0" i="0">
                <a:solidFill>
                  <a:srgbClr val="0B2447"/>
                </a:solidFill>
                <a:latin typeface="Calibri"/>
              </a:rPr>
              <a:t>•  Each component ranked against SAME-SEGMENT, SAME-MONTH peers — cancels out size differences and shared seasonality</a:t>
            </a:r>
          </a:p>
          <a:p>
            <a:pPr>
              <a:spcBef>
                <a:spcPts val="1000"/>
              </a:spcBef>
            </a:pPr>
            <a:r>
              <a:rPr sz="1700" b="0" i="0">
                <a:solidFill>
                  <a:srgbClr val="0B2447"/>
                </a:solidFill>
                <a:latin typeface="Calibri"/>
              </a:rPr>
              <a:t>•  A breach reverting within 2 months AND uncorroborated by other signals is filtered out as a harmless dip</a:t>
            </a:r>
          </a:p>
        </p:txBody>
      </p:sp>
      <p:graphicFrame>
        <p:nvGraphicFramePr>
          <p:cNvPr id="7" name="Table 6"/>
          <p:cNvGraphicFramePr>
            <a:graphicFrameLocks noGrp="1"/>
          </p:cNvGraphicFramePr>
          <p:nvPr/>
        </p:nvGraphicFramePr>
        <p:xfrm>
          <a:off x="777240" y="3657600"/>
          <a:ext cx="5486400" cy="2286000"/>
        </p:xfrm>
        <a:graphic>
          <a:graphicData uri="http://schemas.openxmlformats.org/drawingml/2006/table">
            <a:tbl>
              <a:tblPr firstRow="1" bandRow="1">
                <a:tableStyleId>{5C22544A-7EE6-4342-B048-85BDC9FD1C3A}</a:tableStyleId>
              </a:tblPr>
              <a:tblGrid>
                <a:gridCol w="3931920"/>
                <a:gridCol w="1554480"/>
              </a:tblGrid>
              <a:tr h="457200">
                <a:tc>
                  <a:txBody>
                    <a:bodyPr/>
                    <a:lstStyle/>
                    <a:p>
                      <a:pPr algn="l"/>
                      <a:r>
                        <a:rPr sz="1300" b="1" i="0">
                          <a:solidFill>
                            <a:srgbClr val="FFFFFF"/>
                          </a:solidFill>
                          <a:latin typeface="Calibri"/>
                        </a:rPr>
                        <a:t>True cohort (hidden ground truth)</a:t>
                      </a:r>
                    </a:p>
                  </a:txBody>
                  <a:tcPr>
                    <a:solidFill>
                      <a:srgbClr val="0B2447"/>
                    </a:solidFill>
                  </a:tcPr>
                </a:tc>
                <a:tc>
                  <a:txBody>
                    <a:bodyPr/>
                    <a:lstStyle/>
                    <a:p>
                      <a:pPr algn="l"/>
                      <a:r>
                        <a:rPr sz="1300" b="1" i="0">
                          <a:solidFill>
                            <a:srgbClr val="FFFFFF"/>
                          </a:solidFill>
                          <a:latin typeface="Calibri"/>
                        </a:rPr>
                        <a:t>Flag rate</a:t>
                      </a:r>
                    </a:p>
                  </a:txBody>
                  <a:tcPr>
                    <a:solidFill>
                      <a:srgbClr val="0B2447"/>
                    </a:solidFill>
                  </a:tcPr>
                </a:tc>
              </a:tr>
              <a:tr h="457200">
                <a:tc>
                  <a:txBody>
                    <a:bodyPr/>
                    <a:lstStyle/>
                    <a:p>
                      <a:r>
                        <a:rPr sz="1300" b="1" i="0">
                          <a:solidFill>
                            <a:srgbClr val="0B2447"/>
                          </a:solidFill>
                          <a:latin typeface="Calibri"/>
                        </a:rPr>
                        <a:t>sudden_deterioration</a:t>
                      </a:r>
                    </a:p>
                  </a:txBody>
                  <a:tcPr>
                    <a:solidFill>
                      <a:srgbClr val="FFFFFF"/>
                    </a:solidFill>
                  </a:tcPr>
                </a:tc>
                <a:tc>
                  <a:txBody>
                    <a:bodyPr/>
                    <a:lstStyle/>
                    <a:p>
                      <a:r>
                        <a:rPr sz="1300" b="0" i="0">
                          <a:solidFill>
                            <a:srgbClr val="0B2447"/>
                          </a:solidFill>
                          <a:latin typeface="Calibri"/>
                        </a:rPr>
                        <a:t>100.0%</a:t>
                      </a:r>
                    </a:p>
                  </a:txBody>
                  <a:tcPr>
                    <a:solidFill>
                      <a:srgbClr val="FFFFFF"/>
                    </a:solidFill>
                  </a:tcPr>
                </a:tc>
              </a:tr>
              <a:tr h="457200">
                <a:tc>
                  <a:txBody>
                    <a:bodyPr/>
                    <a:lstStyle/>
                    <a:p>
                      <a:r>
                        <a:rPr sz="1300" b="1" i="0">
                          <a:solidFill>
                            <a:srgbClr val="0B2447"/>
                          </a:solidFill>
                          <a:latin typeface="Calibri"/>
                        </a:rPr>
                        <a:t>gradual_deterioration</a:t>
                      </a:r>
                    </a:p>
                  </a:txBody>
                  <a:tcPr>
                    <a:solidFill>
                      <a:srgbClr val="F1F5F9"/>
                    </a:solidFill>
                  </a:tcPr>
                </a:tc>
                <a:tc>
                  <a:txBody>
                    <a:bodyPr/>
                    <a:lstStyle/>
                    <a:p>
                      <a:r>
                        <a:rPr sz="1300" b="0" i="0">
                          <a:solidFill>
                            <a:srgbClr val="0B2447"/>
                          </a:solidFill>
                          <a:latin typeface="Calibri"/>
                        </a:rPr>
                        <a:t>97.5%</a:t>
                      </a:r>
                    </a:p>
                  </a:txBody>
                  <a:tcPr>
                    <a:solidFill>
                      <a:srgbClr val="F1F5F9"/>
                    </a:solidFill>
                  </a:tcPr>
                </a:tc>
              </a:tr>
              <a:tr h="457200">
                <a:tc>
                  <a:txBody>
                    <a:bodyPr/>
                    <a:lstStyle/>
                    <a:p>
                      <a:r>
                        <a:rPr sz="1300" b="1" i="0">
                          <a:solidFill>
                            <a:srgbClr val="0B2447"/>
                          </a:solidFill>
                          <a:latin typeface="Calibri"/>
                        </a:rPr>
                        <a:t>seasonal_false_positive</a:t>
                      </a:r>
                    </a:p>
                  </a:txBody>
                  <a:tcPr>
                    <a:solidFill>
                      <a:srgbClr val="FFFFFF"/>
                    </a:solidFill>
                  </a:tcPr>
                </a:tc>
                <a:tc>
                  <a:txBody>
                    <a:bodyPr/>
                    <a:lstStyle/>
                    <a:p>
                      <a:r>
                        <a:rPr sz="1300" b="0" i="0">
                          <a:solidFill>
                            <a:srgbClr val="0B2447"/>
                          </a:solidFill>
                          <a:latin typeface="Calibri"/>
                        </a:rPr>
                        <a:t>1.7%</a:t>
                      </a:r>
                    </a:p>
                  </a:txBody>
                  <a:tcPr>
                    <a:solidFill>
                      <a:srgbClr val="FFFFFF"/>
                    </a:solidFill>
                  </a:tcPr>
                </a:tc>
              </a:tr>
              <a:tr h="457200">
                <a:tc>
                  <a:txBody>
                    <a:bodyPr/>
                    <a:lstStyle/>
                    <a:p>
                      <a:r>
                        <a:rPr sz="1300" b="1" i="0">
                          <a:solidFill>
                            <a:srgbClr val="0B2447"/>
                          </a:solidFill>
                          <a:latin typeface="Calibri"/>
                        </a:rPr>
                        <a:t>stable</a:t>
                      </a:r>
                    </a:p>
                  </a:txBody>
                  <a:tcPr>
                    <a:solidFill>
                      <a:srgbClr val="F1F5F9"/>
                    </a:solidFill>
                  </a:tcPr>
                </a:tc>
                <a:tc>
                  <a:txBody>
                    <a:bodyPr/>
                    <a:lstStyle/>
                    <a:p>
                      <a:r>
                        <a:rPr sz="1300" b="0" i="0">
                          <a:solidFill>
                            <a:srgbClr val="0B2447"/>
                          </a:solidFill>
                          <a:latin typeface="Calibri"/>
                        </a:rPr>
                        <a:t>0.1%</a:t>
                      </a:r>
                    </a:p>
                  </a:txBody>
                  <a:tcPr>
                    <a:solidFill>
                      <a:srgbClr val="F1F5F9"/>
                    </a:solidFill>
                  </a:tcPr>
                </a:tc>
              </a:tr>
            </a:tbl>
          </a:graphicData>
        </a:graphic>
      </p:graphicFrame>
      <p:sp>
        <p:nvSpPr>
          <p:cNvPr id="8" name="TextBox 7"/>
          <p:cNvSpPr txBox="1"/>
          <p:nvPr/>
        </p:nvSpPr>
        <p:spPr>
          <a:xfrm>
            <a:off x="6675120" y="3794760"/>
            <a:ext cx="4846320" cy="2377440"/>
          </a:xfrm>
          <a:prstGeom prst="rect">
            <a:avLst/>
          </a:prstGeom>
          <a:noFill/>
        </p:spPr>
        <p:txBody>
          <a:bodyPr wrap="square">
            <a:spAutoFit/>
          </a:bodyPr>
          <a:lstStyle/>
          <a:p>
            <a:pPr>
              <a:spcBef>
                <a:spcPts val="1400"/>
              </a:spcBef>
            </a:pPr>
            <a:r>
              <a:rPr sz="1600" b="0" i="0">
                <a:solidFill>
                  <a:srgbClr val="0B2447"/>
                </a:solidFill>
                <a:latin typeface="Calibri"/>
              </a:rPr>
              <a:t>•  Precision 98.9%  •  Recall 98.3%</a:t>
            </a:r>
          </a:p>
          <a:p>
            <a:pPr>
              <a:spcBef>
                <a:spcPts val="1400"/>
              </a:spcBef>
            </a:pPr>
            <a:r>
              <a:rPr sz="1600" b="0" i="0">
                <a:solidFill>
                  <a:srgbClr val="0B2447"/>
                </a:solidFill>
                <a:latin typeface="Calibri"/>
              </a:rPr>
              <a:t>•  Median detection lag vs. true onset: 2 months (sudden), 4 months (gradual)</a:t>
            </a:r>
          </a:p>
        </p:txBody>
      </p:sp>
      <p:sp>
        <p:nvSpPr>
          <p:cNvPr id="9" name="TextBox 8"/>
          <p:cNvSpPr txBox="1"/>
          <p:nvPr/>
        </p:nvSpPr>
        <p:spPr>
          <a:xfrm>
            <a:off x="457200" y="6537960"/>
            <a:ext cx="8229600" cy="274320"/>
          </a:xfrm>
          <a:prstGeom prst="rect">
            <a:avLst/>
          </a:prstGeom>
          <a:noFill/>
        </p:spPr>
        <p:txBody>
          <a:bodyPr wrap="none">
            <a:spAutoFit/>
          </a:bodyPr>
          <a:lstStyle/>
          <a:p>
            <a:r>
              <a:rPr sz="900" b="0" i="0">
                <a:solidFill>
                  <a:srgbClr val="64748B"/>
                </a:solidFill>
                <a:latin typeface="Calibri"/>
              </a:rPr>
              <a:t>CIB Early Warning System  •  Agastya Sharma  •  github.com/agastyasharma20/cib-ews</a:t>
            </a:r>
          </a:p>
        </p:txBody>
      </p:sp>
      <p:sp>
        <p:nvSpPr>
          <p:cNvPr id="10" name="TextBox 9"/>
          <p:cNvSpPr txBox="1"/>
          <p:nvPr/>
        </p:nvSpPr>
        <p:spPr>
          <a:xfrm>
            <a:off x="11247120" y="6537960"/>
            <a:ext cx="548640" cy="274320"/>
          </a:xfrm>
          <a:prstGeom prst="rect">
            <a:avLst/>
          </a:prstGeom>
          <a:noFill/>
        </p:spPr>
        <p:txBody>
          <a:bodyPr wrap="none">
            <a:spAutoFit/>
          </a:bodyPr>
          <a:lstStyle/>
          <a:p>
            <a:pPr algn="r"/>
            <a:r>
              <a:rPr sz="900" b="0" i="0">
                <a:solidFill>
                  <a:srgbClr val="64748B"/>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11247120" cy="822960"/>
          </a:xfrm>
          <a:prstGeom prst="rect">
            <a:avLst/>
          </a:prstGeom>
          <a:noFill/>
        </p:spPr>
        <p:txBody>
          <a:bodyPr wrap="square">
            <a:spAutoFit/>
          </a:bodyPr>
          <a:lstStyle/>
          <a:p>
            <a:r>
              <a:rPr sz="1200" b="1" i="0">
                <a:solidFill>
                  <a:srgbClr val="FFC1CC"/>
                </a:solidFill>
                <a:latin typeface="Calibri"/>
              </a:rPr>
              <a:t>PHASE 2B — ALL LEAKAGE-SAFE (TRAILING DATA ONLY)</a:t>
            </a:r>
          </a:p>
          <a:p>
            <a:r>
              <a:rPr sz="2600" b="1" i="0">
                <a:solidFill>
                  <a:srgbClr val="FFFFFF"/>
                </a:solidFill>
                <a:latin typeface="Calibri"/>
              </a:rPr>
              <a:t>Feature Engineering — 5 Groups, 22 Features</a:t>
            </a:r>
          </a:p>
        </p:txBody>
      </p:sp>
      <p:graphicFrame>
        <p:nvGraphicFramePr>
          <p:cNvPr id="6" name="Table 5"/>
          <p:cNvGraphicFramePr>
            <a:graphicFrameLocks noGrp="1"/>
          </p:cNvGraphicFramePr>
          <p:nvPr/>
        </p:nvGraphicFramePr>
        <p:xfrm>
          <a:off x="640080" y="1463040"/>
          <a:ext cx="10881360" cy="2743200"/>
        </p:xfrm>
        <a:graphic>
          <a:graphicData uri="http://schemas.openxmlformats.org/drawingml/2006/table">
            <a:tbl>
              <a:tblPr firstRow="1" bandRow="1">
                <a:tableStyleId>{5C22544A-7EE6-4342-B048-85BDC9FD1C3A}</a:tableStyleId>
              </a:tblPr>
              <a:tblGrid>
                <a:gridCol w="4206240"/>
                <a:gridCol w="1371600"/>
                <a:gridCol w="5303520"/>
              </a:tblGrid>
              <a:tr h="457200">
                <a:tc>
                  <a:txBody>
                    <a:bodyPr/>
                    <a:lstStyle/>
                    <a:p>
                      <a:pPr algn="l"/>
                      <a:r>
                        <a:rPr sz="1500" b="1" i="0">
                          <a:solidFill>
                            <a:srgbClr val="FFFFFF"/>
                          </a:solidFill>
                          <a:latin typeface="Calibri"/>
                        </a:rPr>
                        <a:t>Group</a:t>
                      </a:r>
                    </a:p>
                  </a:txBody>
                  <a:tcPr>
                    <a:solidFill>
                      <a:srgbClr val="0B2447"/>
                    </a:solidFill>
                  </a:tcPr>
                </a:tc>
                <a:tc>
                  <a:txBody>
                    <a:bodyPr/>
                    <a:lstStyle/>
                    <a:p>
                      <a:pPr algn="l"/>
                      <a:r>
                        <a:rPr sz="1500" b="1" i="0">
                          <a:solidFill>
                            <a:srgbClr val="FFFFFF"/>
                          </a:solidFill>
                          <a:latin typeface="Calibri"/>
                        </a:rPr>
                        <a:t># Features</a:t>
                      </a:r>
                    </a:p>
                  </a:txBody>
                  <a:tcPr>
                    <a:solidFill>
                      <a:srgbClr val="0B2447"/>
                    </a:solidFill>
                  </a:tcPr>
                </a:tc>
                <a:tc>
                  <a:txBody>
                    <a:bodyPr/>
                    <a:lstStyle/>
                    <a:p>
                      <a:pPr algn="l"/>
                      <a:r>
                        <a:rPr sz="1500" b="1" i="0">
                          <a:solidFill>
                            <a:srgbClr val="FFFFFF"/>
                          </a:solidFill>
                          <a:latin typeface="Calibri"/>
                        </a:rPr>
                        <a:t>Example</a:t>
                      </a:r>
                    </a:p>
                  </a:txBody>
                  <a:tcPr>
                    <a:solidFill>
                      <a:srgbClr val="0B2447"/>
                    </a:solidFill>
                  </a:tcPr>
                </a:tc>
              </a:tr>
              <a:tr h="457200">
                <a:tc>
                  <a:txBody>
                    <a:bodyPr/>
                    <a:lstStyle/>
                    <a:p>
                      <a:r>
                        <a:rPr sz="1500" b="1" i="0">
                          <a:solidFill>
                            <a:srgbClr val="0B2447"/>
                          </a:solidFill>
                          <a:latin typeface="Calibri"/>
                        </a:rPr>
                        <a:t>1. Balance &amp; Liquidity</a:t>
                      </a:r>
                    </a:p>
                  </a:txBody>
                  <a:tcPr>
                    <a:solidFill>
                      <a:srgbClr val="FFFFFF"/>
                    </a:solidFill>
                  </a:tcPr>
                </a:tc>
                <a:tc>
                  <a:txBody>
                    <a:bodyPr/>
                    <a:lstStyle/>
                    <a:p>
                      <a:r>
                        <a:rPr sz="1500" b="0" i="0">
                          <a:solidFill>
                            <a:srgbClr val="0B2447"/>
                          </a:solidFill>
                          <a:latin typeface="Calibri"/>
                        </a:rPr>
                        <a:t>6</a:t>
                      </a:r>
                    </a:p>
                  </a:txBody>
                  <a:tcPr>
                    <a:solidFill>
                      <a:srgbClr val="FFFFFF"/>
                    </a:solidFill>
                  </a:tcPr>
                </a:tc>
                <a:tc>
                  <a:txBody>
                    <a:bodyPr/>
                    <a:lstStyle/>
                    <a:p>
                      <a:r>
                        <a:rPr sz="1500" b="0" i="0">
                          <a:solidFill>
                            <a:srgbClr val="0B2447"/>
                          </a:solidFill>
                          <a:latin typeface="Calibri"/>
                        </a:rPr>
                        <a:t>amb_trend_slope_3m, seasonal-adjusted deviation</a:t>
                      </a:r>
                    </a:p>
                  </a:txBody>
                  <a:tcPr>
                    <a:solidFill>
                      <a:srgbClr val="FFFFFF"/>
                    </a:solidFill>
                  </a:tcPr>
                </a:tc>
              </a:tr>
              <a:tr h="457200">
                <a:tc>
                  <a:txBody>
                    <a:bodyPr/>
                    <a:lstStyle/>
                    <a:p>
                      <a:r>
                        <a:rPr sz="1500" b="1" i="0">
                          <a:solidFill>
                            <a:srgbClr val="0B2447"/>
                          </a:solidFill>
                          <a:latin typeface="Calibri"/>
                        </a:rPr>
                        <a:t>2. Transaction &amp; Digital Activity</a:t>
                      </a:r>
                    </a:p>
                  </a:txBody>
                  <a:tcPr>
                    <a:solidFill>
                      <a:srgbClr val="F1F5F9"/>
                    </a:solidFill>
                  </a:tcPr>
                </a:tc>
                <a:tc>
                  <a:txBody>
                    <a:bodyPr/>
                    <a:lstStyle/>
                    <a:p>
                      <a:r>
                        <a:rPr sz="1500" b="0" i="0">
                          <a:solidFill>
                            <a:srgbClr val="0B2447"/>
                          </a:solidFill>
                          <a:latin typeface="Calibri"/>
                        </a:rPr>
                        <a:t>5</a:t>
                      </a:r>
                    </a:p>
                  </a:txBody>
                  <a:tcPr>
                    <a:solidFill>
                      <a:srgbClr val="F1F5F9"/>
                    </a:solidFill>
                  </a:tcPr>
                </a:tc>
                <a:tc>
                  <a:txBody>
                    <a:bodyPr/>
                    <a:lstStyle/>
                    <a:p>
                      <a:r>
                        <a:rPr sz="1500" b="0" i="0">
                          <a:solidFill>
                            <a:srgbClr val="0B2447"/>
                          </a:solidFill>
                          <a:latin typeface="Calibri"/>
                        </a:rPr>
                        <a:t>txn value trend, digital channel share</a:t>
                      </a:r>
                    </a:p>
                  </a:txBody>
                  <a:tcPr>
                    <a:solidFill>
                      <a:srgbClr val="F1F5F9"/>
                    </a:solidFill>
                  </a:tcPr>
                </a:tc>
              </a:tr>
              <a:tr h="457200">
                <a:tc>
                  <a:txBody>
                    <a:bodyPr/>
                    <a:lstStyle/>
                    <a:p>
                      <a:r>
                        <a:rPr sz="1500" b="1" i="0">
                          <a:solidFill>
                            <a:srgbClr val="0B2447"/>
                          </a:solidFill>
                          <a:latin typeface="Calibri"/>
                        </a:rPr>
                        <a:t>3. Product &amp; Wallet-Share</a:t>
                      </a:r>
                    </a:p>
                  </a:txBody>
                  <a:tcPr>
                    <a:solidFill>
                      <a:srgbClr val="FFFFFF"/>
                    </a:solidFill>
                  </a:tcPr>
                </a:tc>
                <a:tc>
                  <a:txBody>
                    <a:bodyPr/>
                    <a:lstStyle/>
                    <a:p>
                      <a:r>
                        <a:rPr sz="1500" b="0" i="0">
                          <a:solidFill>
                            <a:srgbClr val="0B2447"/>
                          </a:solidFill>
                          <a:latin typeface="Calibri"/>
                        </a:rPr>
                        <a:t>4</a:t>
                      </a:r>
                    </a:p>
                  </a:txBody>
                  <a:tcPr>
                    <a:solidFill>
                      <a:srgbClr val="FFFFFF"/>
                    </a:solidFill>
                  </a:tcPr>
                </a:tc>
                <a:tc>
                  <a:txBody>
                    <a:bodyPr/>
                    <a:lstStyle/>
                    <a:p>
                      <a:r>
                        <a:rPr sz="1500" b="0" i="0">
                          <a:solidFill>
                            <a:srgbClr val="0B2447"/>
                          </a:solidFill>
                          <a:latin typeface="Calibri"/>
                        </a:rPr>
                        <a:t>payroll regularity score, trade utilization trend</a:t>
                      </a:r>
                    </a:p>
                  </a:txBody>
                  <a:tcPr>
                    <a:solidFill>
                      <a:srgbClr val="FFFFFF"/>
                    </a:solidFill>
                  </a:tcPr>
                </a:tc>
              </a:tr>
              <a:tr h="457200">
                <a:tc>
                  <a:txBody>
                    <a:bodyPr/>
                    <a:lstStyle/>
                    <a:p>
                      <a:r>
                        <a:rPr sz="1500" b="1" i="0">
                          <a:solidFill>
                            <a:srgbClr val="0B2447"/>
                          </a:solidFill>
                          <a:latin typeface="Calibri"/>
                        </a:rPr>
                        <a:t>4. Network &amp; Counterparty</a:t>
                      </a:r>
                    </a:p>
                  </a:txBody>
                  <a:tcPr>
                    <a:solidFill>
                      <a:srgbClr val="F1F5F9"/>
                    </a:solidFill>
                  </a:tcPr>
                </a:tc>
                <a:tc>
                  <a:txBody>
                    <a:bodyPr/>
                    <a:lstStyle/>
                    <a:p>
                      <a:r>
                        <a:rPr sz="1500" b="0" i="0">
                          <a:solidFill>
                            <a:srgbClr val="0B2447"/>
                          </a:solidFill>
                          <a:latin typeface="Calibri"/>
                        </a:rPr>
                        <a:t>3</a:t>
                      </a:r>
                    </a:p>
                  </a:txBody>
                  <a:tcPr>
                    <a:solidFill>
                      <a:srgbClr val="F1F5F9"/>
                    </a:solidFill>
                  </a:tcPr>
                </a:tc>
                <a:tc>
                  <a:txBody>
                    <a:bodyPr/>
                    <a:lstStyle/>
                    <a:p>
                      <a:r>
                        <a:rPr sz="1500" b="0" i="0">
                          <a:solidFill>
                            <a:srgbClr val="0B2447"/>
                          </a:solidFill>
                          <a:latin typeface="Calibri"/>
                        </a:rPr>
                        <a:t>competitor-bank transaction share, HHI</a:t>
                      </a:r>
                    </a:p>
                  </a:txBody>
                  <a:tcPr>
                    <a:solidFill>
                      <a:srgbClr val="F1F5F9"/>
                    </a:solidFill>
                  </a:tcPr>
                </a:tc>
              </a:tr>
              <a:tr h="457200">
                <a:tc>
                  <a:txBody>
                    <a:bodyPr/>
                    <a:lstStyle/>
                    <a:p>
                      <a:r>
                        <a:rPr sz="1500" b="1" i="0">
                          <a:solidFill>
                            <a:srgbClr val="0B2447"/>
                          </a:solidFill>
                          <a:latin typeface="Calibri"/>
                        </a:rPr>
                        <a:t>5. Relationship &amp; Engagement</a:t>
                      </a:r>
                    </a:p>
                  </a:txBody>
                  <a:tcPr>
                    <a:solidFill>
                      <a:srgbClr val="FFFFFF"/>
                    </a:solidFill>
                  </a:tcPr>
                </a:tc>
                <a:tc>
                  <a:txBody>
                    <a:bodyPr/>
                    <a:lstStyle/>
                    <a:p>
                      <a:r>
                        <a:rPr sz="1500" b="0" i="0">
                          <a:solidFill>
                            <a:srgbClr val="0B2447"/>
                          </a:solidFill>
                          <a:latin typeface="Calibri"/>
                        </a:rPr>
                        <a:t>4</a:t>
                      </a:r>
                    </a:p>
                  </a:txBody>
                  <a:tcPr>
                    <a:solidFill>
                      <a:srgbClr val="FFFFFF"/>
                    </a:solidFill>
                  </a:tcPr>
                </a:tc>
                <a:tc>
                  <a:txBody>
                    <a:bodyPr/>
                    <a:lstStyle/>
                    <a:p>
                      <a:r>
                        <a:rPr sz="1500" b="0" i="0">
                          <a:solidFill>
                            <a:srgbClr val="0B2447"/>
                          </a:solidFill>
                          <a:latin typeface="Calibri"/>
                        </a:rPr>
                        <a:t>tenure, complaint/service-ticket trend</a:t>
                      </a:r>
                    </a:p>
                  </a:txBody>
                  <a:tcPr>
                    <a:solidFill>
                      <a:srgbClr val="FFFFFF"/>
                    </a:solidFill>
                  </a:tcPr>
                </a:tc>
              </a:tr>
            </a:tbl>
          </a:graphicData>
        </a:graphic>
      </p:graphicFrame>
      <p:sp>
        <p:nvSpPr>
          <p:cNvPr id="7" name="TextBox 6"/>
          <p:cNvSpPr txBox="1"/>
          <p:nvPr/>
        </p:nvSpPr>
        <p:spPr>
          <a:xfrm>
            <a:off x="640080" y="4663440"/>
            <a:ext cx="10881360" cy="365760"/>
          </a:xfrm>
          <a:prstGeom prst="rect">
            <a:avLst/>
          </a:prstGeom>
          <a:noFill/>
        </p:spPr>
        <p:txBody>
          <a:bodyPr wrap="none">
            <a:spAutoFit/>
          </a:bodyPr>
          <a:lstStyle/>
          <a:p>
            <a:pPr algn="ctr"/>
            <a:r>
              <a:rPr sz="1100" b="0" i="1">
                <a:solidFill>
                  <a:srgbClr val="64748B"/>
                </a:solidFill>
                <a:latin typeface="Calibri"/>
              </a:rPr>
              <a:t>Same grouping reused end-to-end: reason codes (Phase 5) and the RM-action mapping (Phase 6) key off these exact 5 groups.</a:t>
            </a:r>
          </a:p>
        </p:txBody>
      </p:sp>
      <p:sp>
        <p:nvSpPr>
          <p:cNvPr id="8" name="TextBox 7"/>
          <p:cNvSpPr txBox="1"/>
          <p:nvPr/>
        </p:nvSpPr>
        <p:spPr>
          <a:xfrm>
            <a:off x="457200" y="6537960"/>
            <a:ext cx="8229600" cy="274320"/>
          </a:xfrm>
          <a:prstGeom prst="rect">
            <a:avLst/>
          </a:prstGeom>
          <a:noFill/>
        </p:spPr>
        <p:txBody>
          <a:bodyPr wrap="none">
            <a:spAutoFit/>
          </a:bodyPr>
          <a:lstStyle/>
          <a:p>
            <a:r>
              <a:rPr sz="900" b="0" i="0">
                <a:solidFill>
                  <a:srgbClr val="64748B"/>
                </a:solidFill>
                <a:latin typeface="Calibri"/>
              </a:rPr>
              <a:t>CIB Early Warning System  •  Agastya Sharma  •  github.com/agastyasharma20/cib-ews</a:t>
            </a:r>
          </a:p>
        </p:txBody>
      </p:sp>
      <p:sp>
        <p:nvSpPr>
          <p:cNvPr id="9" name="TextBox 8"/>
          <p:cNvSpPr txBox="1"/>
          <p:nvPr/>
        </p:nvSpPr>
        <p:spPr>
          <a:xfrm>
            <a:off x="11247120" y="6537960"/>
            <a:ext cx="548640" cy="274320"/>
          </a:xfrm>
          <a:prstGeom prst="rect">
            <a:avLst/>
          </a:prstGeom>
          <a:noFill/>
        </p:spPr>
        <p:txBody>
          <a:bodyPr wrap="none">
            <a:spAutoFit/>
          </a:bodyPr>
          <a:lstStyle/>
          <a:p>
            <a:pPr algn="r"/>
            <a:r>
              <a:rPr sz="900" b="0" i="0">
                <a:solidFill>
                  <a:srgbClr val="64748B"/>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11247120" cy="822960"/>
          </a:xfrm>
          <a:prstGeom prst="rect">
            <a:avLst/>
          </a:prstGeom>
          <a:noFill/>
        </p:spPr>
        <p:txBody>
          <a:bodyPr wrap="square">
            <a:spAutoFit/>
          </a:bodyPr>
          <a:lstStyle/>
          <a:p>
            <a:r>
              <a:rPr sz="1200" b="1" i="0">
                <a:solidFill>
                  <a:srgbClr val="FFC1CC"/>
                </a:solidFill>
                <a:latin typeface="Calibri"/>
              </a:rPr>
              <a:t>PHASES 3–5 — 90-DAY HORIZON SHOWN</a:t>
            </a:r>
          </a:p>
          <a:p>
            <a:r>
              <a:rPr sz="2600" b="1" i="0">
                <a:solidFill>
                  <a:srgbClr val="FFFFFF"/>
                </a:solidFill>
                <a:latin typeface="Calibri"/>
              </a:rPr>
              <a:t>Model Results — Baseline → Tuned Core Model</a:t>
            </a:r>
          </a:p>
        </p:txBody>
      </p:sp>
      <p:graphicFrame>
        <p:nvGraphicFramePr>
          <p:cNvPr id="6" name="Table 5"/>
          <p:cNvGraphicFramePr>
            <a:graphicFrameLocks noGrp="1"/>
          </p:cNvGraphicFramePr>
          <p:nvPr/>
        </p:nvGraphicFramePr>
        <p:xfrm>
          <a:off x="640080" y="1417320"/>
          <a:ext cx="10881360" cy="1828800"/>
        </p:xfrm>
        <a:graphic>
          <a:graphicData uri="http://schemas.openxmlformats.org/drawingml/2006/table">
            <a:tbl>
              <a:tblPr firstRow="1" bandRow="1">
                <a:tableStyleId>{5C22544A-7EE6-4342-B048-85BDC9FD1C3A}</a:tableStyleId>
              </a:tblPr>
              <a:tblGrid>
                <a:gridCol w="5029200"/>
                <a:gridCol w="1920240"/>
                <a:gridCol w="1920240"/>
                <a:gridCol w="2011680"/>
              </a:tblGrid>
              <a:tr h="457200">
                <a:tc>
                  <a:txBody>
                    <a:bodyPr/>
                    <a:lstStyle/>
                    <a:p>
                      <a:pPr algn="l"/>
                      <a:r>
                        <a:rPr sz="1600" b="1" i="0">
                          <a:solidFill>
                            <a:srgbClr val="FFFFFF"/>
                          </a:solidFill>
                          <a:latin typeface="Calibri"/>
                        </a:rPr>
                        <a:t>Model</a:t>
                      </a:r>
                    </a:p>
                  </a:txBody>
                  <a:tcPr>
                    <a:solidFill>
                      <a:srgbClr val="0B2447"/>
                    </a:solidFill>
                  </a:tcPr>
                </a:tc>
                <a:tc>
                  <a:txBody>
                    <a:bodyPr/>
                    <a:lstStyle/>
                    <a:p>
                      <a:pPr algn="l"/>
                      <a:r>
                        <a:rPr sz="1600" b="1" i="0">
                          <a:solidFill>
                            <a:srgbClr val="FFFFFF"/>
                          </a:solidFill>
                          <a:latin typeface="Calibri"/>
                        </a:rPr>
                        <a:t>ROC-AUC</a:t>
                      </a:r>
                    </a:p>
                  </a:txBody>
                  <a:tcPr>
                    <a:solidFill>
                      <a:srgbClr val="0B2447"/>
                    </a:solidFill>
                  </a:tcPr>
                </a:tc>
                <a:tc>
                  <a:txBody>
                    <a:bodyPr/>
                    <a:lstStyle/>
                    <a:p>
                      <a:pPr algn="l"/>
                      <a:r>
                        <a:rPr sz="1600" b="1" i="0">
                          <a:solidFill>
                            <a:srgbClr val="FFFFFF"/>
                          </a:solidFill>
                          <a:latin typeface="Calibri"/>
                        </a:rPr>
                        <a:t>PR-AUC</a:t>
                      </a:r>
                    </a:p>
                  </a:txBody>
                  <a:tcPr>
                    <a:solidFill>
                      <a:srgbClr val="0B2447"/>
                    </a:solidFill>
                  </a:tcPr>
                </a:tc>
                <a:tc>
                  <a:txBody>
                    <a:bodyPr/>
                    <a:lstStyle/>
                    <a:p>
                      <a:pPr algn="l"/>
                      <a:r>
                        <a:rPr sz="1600" b="1" i="0">
                          <a:solidFill>
                            <a:srgbClr val="FFFFFF"/>
                          </a:solidFill>
                          <a:latin typeface="Calibri"/>
                        </a:rPr>
                        <a:t>Top-decile lift</a:t>
                      </a:r>
                    </a:p>
                  </a:txBody>
                  <a:tcPr>
                    <a:solidFill>
                      <a:srgbClr val="0B2447"/>
                    </a:solidFill>
                  </a:tcPr>
                </a:tc>
              </a:tr>
              <a:tr h="457200">
                <a:tc>
                  <a:txBody>
                    <a:bodyPr/>
                    <a:lstStyle/>
                    <a:p>
                      <a:r>
                        <a:rPr sz="1600" b="1" i="0">
                          <a:solidFill>
                            <a:srgbClr val="0B2447"/>
                          </a:solidFill>
                          <a:latin typeface="Calibri"/>
                        </a:rPr>
                        <a:t>Logistic Regression (baseline)</a:t>
                      </a:r>
                    </a:p>
                  </a:txBody>
                  <a:tcPr>
                    <a:solidFill>
                      <a:srgbClr val="FFFFFF"/>
                    </a:solidFill>
                  </a:tcPr>
                </a:tc>
                <a:tc>
                  <a:txBody>
                    <a:bodyPr/>
                    <a:lstStyle/>
                    <a:p>
                      <a:r>
                        <a:rPr sz="1600" b="0" i="0">
                          <a:solidFill>
                            <a:srgbClr val="0B2447"/>
                          </a:solidFill>
                          <a:latin typeface="Calibri"/>
                        </a:rPr>
                        <a:t>0.935</a:t>
                      </a:r>
                    </a:p>
                  </a:txBody>
                  <a:tcPr>
                    <a:solidFill>
                      <a:srgbClr val="FFFFFF"/>
                    </a:solidFill>
                  </a:tcPr>
                </a:tc>
                <a:tc>
                  <a:txBody>
                    <a:bodyPr/>
                    <a:lstStyle/>
                    <a:p>
                      <a:r>
                        <a:rPr sz="1600" b="0" i="0">
                          <a:solidFill>
                            <a:srgbClr val="0B2447"/>
                          </a:solidFill>
                          <a:latin typeface="Calibri"/>
                        </a:rPr>
                        <a:t>0.841</a:t>
                      </a:r>
                    </a:p>
                  </a:txBody>
                  <a:tcPr>
                    <a:solidFill>
                      <a:srgbClr val="FFFFFF"/>
                    </a:solidFill>
                  </a:tcPr>
                </a:tc>
                <a:tc>
                  <a:txBody>
                    <a:bodyPr/>
                    <a:lstStyle/>
                    <a:p>
                      <a:r>
                        <a:rPr sz="1600" b="0" i="0">
                          <a:solidFill>
                            <a:srgbClr val="0B2447"/>
                          </a:solidFill>
                          <a:latin typeface="Calibri"/>
                        </a:rPr>
                        <a:t>5.85x</a:t>
                      </a:r>
                    </a:p>
                  </a:txBody>
                  <a:tcPr>
                    <a:solidFill>
                      <a:srgbClr val="FFFFFF"/>
                    </a:solidFill>
                  </a:tcPr>
                </a:tc>
              </a:tr>
              <a:tr h="457200">
                <a:tc>
                  <a:txBody>
                    <a:bodyPr/>
                    <a:lstStyle/>
                    <a:p>
                      <a:r>
                        <a:rPr sz="1600" b="1" i="0">
                          <a:solidFill>
                            <a:srgbClr val="0B2447"/>
                          </a:solidFill>
                          <a:latin typeface="Calibri"/>
                        </a:rPr>
                        <a:t>LightGBM (tuned)</a:t>
                      </a:r>
                    </a:p>
                  </a:txBody>
                  <a:tcPr>
                    <a:solidFill>
                      <a:srgbClr val="F1F5F9"/>
                    </a:solidFill>
                  </a:tcPr>
                </a:tc>
                <a:tc>
                  <a:txBody>
                    <a:bodyPr/>
                    <a:lstStyle/>
                    <a:p>
                      <a:r>
                        <a:rPr sz="1600" b="0" i="0">
                          <a:solidFill>
                            <a:srgbClr val="0B2447"/>
                          </a:solidFill>
                          <a:latin typeface="Calibri"/>
                        </a:rPr>
                        <a:t>0.951</a:t>
                      </a:r>
                    </a:p>
                  </a:txBody>
                  <a:tcPr>
                    <a:solidFill>
                      <a:srgbClr val="F1F5F9"/>
                    </a:solidFill>
                  </a:tcPr>
                </a:tc>
                <a:tc>
                  <a:txBody>
                    <a:bodyPr/>
                    <a:lstStyle/>
                    <a:p>
                      <a:r>
                        <a:rPr sz="1600" b="0" i="0">
                          <a:solidFill>
                            <a:srgbClr val="0B2447"/>
                          </a:solidFill>
                          <a:latin typeface="Calibri"/>
                        </a:rPr>
                        <a:t>0.854</a:t>
                      </a:r>
                    </a:p>
                  </a:txBody>
                  <a:tcPr>
                    <a:solidFill>
                      <a:srgbClr val="F1F5F9"/>
                    </a:solidFill>
                  </a:tcPr>
                </a:tc>
                <a:tc>
                  <a:txBody>
                    <a:bodyPr/>
                    <a:lstStyle/>
                    <a:p>
                      <a:r>
                        <a:rPr sz="1600" b="0" i="0">
                          <a:solidFill>
                            <a:srgbClr val="0B2447"/>
                          </a:solidFill>
                          <a:latin typeface="Calibri"/>
                        </a:rPr>
                        <a:t>6.16x</a:t>
                      </a:r>
                    </a:p>
                  </a:txBody>
                  <a:tcPr>
                    <a:solidFill>
                      <a:srgbClr val="F1F5F9"/>
                    </a:solidFill>
                  </a:tcPr>
                </a:tc>
              </a:tr>
              <a:tr h="457200">
                <a:tc>
                  <a:txBody>
                    <a:bodyPr/>
                    <a:lstStyle/>
                    <a:p>
                      <a:r>
                        <a:rPr sz="1600" b="1" i="0">
                          <a:solidFill>
                            <a:srgbClr val="0B2447"/>
                          </a:solidFill>
                          <a:latin typeface="Calibri"/>
                        </a:rPr>
                        <a:t>XGBoost (tuned) — CHOSEN</a:t>
                      </a:r>
                    </a:p>
                  </a:txBody>
                  <a:tcPr>
                    <a:solidFill>
                      <a:srgbClr val="FFFFFF"/>
                    </a:solidFill>
                  </a:tcPr>
                </a:tc>
                <a:tc>
                  <a:txBody>
                    <a:bodyPr/>
                    <a:lstStyle/>
                    <a:p>
                      <a:r>
                        <a:rPr sz="1600" b="0" i="0">
                          <a:solidFill>
                            <a:srgbClr val="0B2447"/>
                          </a:solidFill>
                          <a:latin typeface="Calibri"/>
                        </a:rPr>
                        <a:t>0.958</a:t>
                      </a:r>
                    </a:p>
                  </a:txBody>
                  <a:tcPr>
                    <a:solidFill>
                      <a:srgbClr val="FFFFFF"/>
                    </a:solidFill>
                  </a:tcPr>
                </a:tc>
                <a:tc>
                  <a:txBody>
                    <a:bodyPr/>
                    <a:lstStyle/>
                    <a:p>
                      <a:r>
                        <a:rPr sz="1600" b="0" i="0">
                          <a:solidFill>
                            <a:srgbClr val="0B2447"/>
                          </a:solidFill>
                          <a:latin typeface="Calibri"/>
                        </a:rPr>
                        <a:t>0.903</a:t>
                      </a:r>
                    </a:p>
                  </a:txBody>
                  <a:tcPr>
                    <a:solidFill>
                      <a:srgbClr val="FFFFFF"/>
                    </a:solidFill>
                  </a:tcPr>
                </a:tc>
                <a:tc>
                  <a:txBody>
                    <a:bodyPr/>
                    <a:lstStyle/>
                    <a:p>
                      <a:r>
                        <a:rPr sz="1600" b="0" i="0">
                          <a:solidFill>
                            <a:srgbClr val="0B2447"/>
                          </a:solidFill>
                          <a:latin typeface="Calibri"/>
                        </a:rPr>
                        <a:t>6.29x</a:t>
                      </a:r>
                    </a:p>
                  </a:txBody>
                  <a:tcPr>
                    <a:solidFill>
                      <a:srgbClr val="FFFFFF"/>
                    </a:solidFill>
                  </a:tcPr>
                </a:tc>
              </a:tr>
            </a:tbl>
          </a:graphicData>
        </a:graphic>
      </p:graphicFrame>
      <p:sp>
        <p:nvSpPr>
          <p:cNvPr id="7" name="TextBox 6"/>
          <p:cNvSpPr txBox="1"/>
          <p:nvPr/>
        </p:nvSpPr>
        <p:spPr>
          <a:xfrm>
            <a:off x="640080" y="3063240"/>
            <a:ext cx="10881360" cy="1463040"/>
          </a:xfrm>
          <a:prstGeom prst="rect">
            <a:avLst/>
          </a:prstGeom>
          <a:noFill/>
        </p:spPr>
        <p:txBody>
          <a:bodyPr wrap="square">
            <a:spAutoFit/>
          </a:bodyPr>
          <a:lstStyle/>
          <a:p>
            <a:pPr>
              <a:spcBef>
                <a:spcPts val="1200"/>
              </a:spcBef>
            </a:pPr>
            <a:r>
              <a:rPr sz="1600" b="0" i="0">
                <a:solidFill>
                  <a:srgbClr val="0B2447"/>
                </a:solidFill>
                <a:latin typeface="Calibri"/>
              </a:rPr>
              <a:t>•  Chosen on PR-AUC, not ROC-AUC — at a ~6-15% positive rate, ROC-AUC can look strong while precision in the actionable top slice is mediocre.</a:t>
            </a:r>
          </a:p>
          <a:p>
            <a:pPr>
              <a:spcBef>
                <a:spcPts val="1200"/>
              </a:spcBef>
            </a:pPr>
            <a:r>
              <a:rPr sz="1600" b="0" i="0">
                <a:solidFill>
                  <a:srgbClr val="0B2447"/>
                </a:solidFill>
                <a:latin typeface="Calibri"/>
              </a:rPr>
              <a:t>•  LightGBM's PR-AUC looked competitive, but its precision/recall COLLAPSED TO 0 at the default 0.5 threshold — miscalibrated probabilities, caught by checking beyond the headline metric.</a:t>
            </a:r>
          </a:p>
        </p:txBody>
      </p:sp>
      <p:pic>
        <p:nvPicPr>
          <p:cNvPr id="8" name="Picture 7" descr="core_gbm_xgboost_deteriorates_in_90d_roc_pr_lift.png"/>
          <p:cNvPicPr>
            <a:picLocks noChangeAspect="1"/>
          </p:cNvPicPr>
          <p:nvPr/>
        </p:nvPicPr>
        <p:blipFill>
          <a:blip r:embed="rId2"/>
          <a:stretch>
            <a:fillRect/>
          </a:stretch>
        </p:blipFill>
        <p:spPr>
          <a:xfrm>
            <a:off x="3169767" y="4617720"/>
            <a:ext cx="5852160" cy="1828800"/>
          </a:xfrm>
          <a:prstGeom prst="rect">
            <a:avLst/>
          </a:prstGeom>
        </p:spPr>
      </p:pic>
      <p:sp>
        <p:nvSpPr>
          <p:cNvPr id="9" name="TextBox 8"/>
          <p:cNvSpPr txBox="1"/>
          <p:nvPr/>
        </p:nvSpPr>
        <p:spPr>
          <a:xfrm>
            <a:off x="457200" y="6537960"/>
            <a:ext cx="8229600" cy="274320"/>
          </a:xfrm>
          <a:prstGeom prst="rect">
            <a:avLst/>
          </a:prstGeom>
          <a:noFill/>
        </p:spPr>
        <p:txBody>
          <a:bodyPr wrap="none">
            <a:spAutoFit/>
          </a:bodyPr>
          <a:lstStyle/>
          <a:p>
            <a:r>
              <a:rPr sz="900" b="0" i="0">
                <a:solidFill>
                  <a:srgbClr val="64748B"/>
                </a:solidFill>
                <a:latin typeface="Calibri"/>
              </a:rPr>
              <a:t>CIB Early Warning System  •  Agastya Sharma  •  github.com/agastyasharma20/cib-ews</a:t>
            </a:r>
          </a:p>
        </p:txBody>
      </p:sp>
      <p:sp>
        <p:nvSpPr>
          <p:cNvPr id="10" name="TextBox 9"/>
          <p:cNvSpPr txBox="1"/>
          <p:nvPr/>
        </p:nvSpPr>
        <p:spPr>
          <a:xfrm>
            <a:off x="11247120" y="6537960"/>
            <a:ext cx="548640" cy="274320"/>
          </a:xfrm>
          <a:prstGeom prst="rect">
            <a:avLst/>
          </a:prstGeom>
          <a:noFill/>
        </p:spPr>
        <p:txBody>
          <a:bodyPr wrap="none">
            <a:spAutoFit/>
          </a:bodyPr>
          <a:lstStyle/>
          <a:p>
            <a:pPr algn="r"/>
            <a:r>
              <a:rPr sz="900" b="0" i="0">
                <a:solidFill>
                  <a:srgbClr val="64748B"/>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11247120" cy="822960"/>
          </a:xfrm>
          <a:prstGeom prst="rect">
            <a:avLst/>
          </a:prstGeom>
          <a:noFill/>
        </p:spPr>
        <p:txBody>
          <a:bodyPr wrap="square">
            <a:spAutoFit/>
          </a:bodyPr>
          <a:lstStyle/>
          <a:p>
            <a:r>
              <a:rPr sz="1200" b="1" i="0">
                <a:solidFill>
                  <a:srgbClr val="FFC1CC"/>
                </a:solidFill>
                <a:latin typeface="Calibri"/>
              </a:rPr>
              <a:t>PHASE 5 — FROM A SCORE TO A STORY</a:t>
            </a:r>
          </a:p>
          <a:p>
            <a:r>
              <a:rPr sz="2600" b="1" i="0">
                <a:solidFill>
                  <a:srgbClr val="FFFFFF"/>
                </a:solidFill>
                <a:latin typeface="Calibri"/>
              </a:rPr>
              <a:t>Explainability — SHAP Reason Codes</a:t>
            </a:r>
          </a:p>
        </p:txBody>
      </p:sp>
      <p:sp>
        <p:nvSpPr>
          <p:cNvPr id="6" name="TextBox 5"/>
          <p:cNvSpPr txBox="1"/>
          <p:nvPr/>
        </p:nvSpPr>
        <p:spPr>
          <a:xfrm>
            <a:off x="640080" y="1371600"/>
            <a:ext cx="10881360" cy="2011680"/>
          </a:xfrm>
          <a:prstGeom prst="rect">
            <a:avLst/>
          </a:prstGeom>
          <a:noFill/>
        </p:spPr>
        <p:txBody>
          <a:bodyPr wrap="square">
            <a:spAutoFit/>
          </a:bodyPr>
          <a:lstStyle/>
          <a:p>
            <a:pPr>
              <a:spcBef>
                <a:spcPts val="1000"/>
              </a:spcBef>
            </a:pPr>
            <a:r>
              <a:rPr sz="1700" b="0" i="0">
                <a:solidFill>
                  <a:srgbClr val="0B2447"/>
                </a:solidFill>
                <a:latin typeface="Calibri"/>
              </a:rPr>
              <a:t>•  SHAP TreeExplainer computes PER-CUSTOMER attributions — not just global feature importance</a:t>
            </a:r>
          </a:p>
          <a:p>
            <a:pPr>
              <a:spcBef>
                <a:spcPts val="1000"/>
              </a:spcBef>
            </a:pPr>
            <a:r>
              <a:rPr sz="1700" b="0" i="0">
                <a:solidFill>
                  <a:srgbClr val="0B2447"/>
                </a:solidFill>
                <a:latin typeface="Calibri"/>
              </a:rPr>
              <a:t>•  Raw features grouped into plain-language driver labels BEFORE ranking (3 distinct stories, not 1 story 3 times)</a:t>
            </a:r>
          </a:p>
          <a:p>
            <a:pPr>
              <a:spcBef>
                <a:spcPts val="1000"/>
              </a:spcBef>
            </a:pPr>
            <a:r>
              <a:rPr sz="1700" b="0" i="0">
                <a:solidFill>
                  <a:srgbClr val="0B2447"/>
                </a:solidFill>
                <a:latin typeface="Calibri"/>
              </a:rPr>
              <a:t>•  Ranked by signed SHAP sum, not magnitude — a protective factor never crowds out the actual risk drivers</a:t>
            </a:r>
          </a:p>
        </p:txBody>
      </p:sp>
      <p:graphicFrame>
        <p:nvGraphicFramePr>
          <p:cNvPr id="7" name="Table 6"/>
          <p:cNvGraphicFramePr>
            <a:graphicFrameLocks noGrp="1"/>
          </p:cNvGraphicFramePr>
          <p:nvPr/>
        </p:nvGraphicFramePr>
        <p:xfrm>
          <a:off x="640080" y="3566160"/>
          <a:ext cx="10881360" cy="1828800"/>
        </p:xfrm>
        <a:graphic>
          <a:graphicData uri="http://schemas.openxmlformats.org/drawingml/2006/table">
            <a:tbl>
              <a:tblPr firstRow="1" bandRow="1">
                <a:tableStyleId>{5C22544A-7EE6-4342-B048-85BDC9FD1C3A}</a:tableStyleId>
              </a:tblPr>
              <a:tblGrid>
                <a:gridCol w="1188720"/>
                <a:gridCol w="1188720"/>
                <a:gridCol w="8503920"/>
              </a:tblGrid>
              <a:tr h="457200">
                <a:tc>
                  <a:txBody>
                    <a:bodyPr/>
                    <a:lstStyle/>
                    <a:p>
                      <a:pPr algn="l"/>
                      <a:r>
                        <a:rPr sz="1400" b="1" i="0">
                          <a:solidFill>
                            <a:srgbClr val="FFFFFF"/>
                          </a:solidFill>
                          <a:latin typeface="Calibri"/>
                        </a:rPr>
                        <a:t>Risk</a:t>
                      </a:r>
                    </a:p>
                  </a:txBody>
                  <a:tcPr>
                    <a:solidFill>
                      <a:srgbClr val="0B2447"/>
                    </a:solidFill>
                  </a:tcPr>
                </a:tc>
                <a:tc>
                  <a:txBody>
                    <a:bodyPr/>
                    <a:lstStyle/>
                    <a:p>
                      <a:pPr algn="l"/>
                      <a:r>
                        <a:rPr sz="1400" b="1" i="0">
                          <a:solidFill>
                            <a:srgbClr val="FFFFFF"/>
                          </a:solidFill>
                          <a:latin typeface="Calibri"/>
                        </a:rPr>
                        <a:t>90d score</a:t>
                      </a:r>
                    </a:p>
                  </a:txBody>
                  <a:tcPr>
                    <a:solidFill>
                      <a:srgbClr val="0B2447"/>
                    </a:solidFill>
                  </a:tcPr>
                </a:tc>
                <a:tc>
                  <a:txBody>
                    <a:bodyPr/>
                    <a:lstStyle/>
                    <a:p>
                      <a:pPr algn="l"/>
                      <a:r>
                        <a:rPr sz="1400" b="1" i="0">
                          <a:solidFill>
                            <a:srgbClr val="FFFFFF"/>
                          </a:solidFill>
                          <a:latin typeface="Calibri"/>
                        </a:rPr>
                        <a:t>Top 3 reason codes</a:t>
                      </a:r>
                    </a:p>
                  </a:txBody>
                  <a:tcPr>
                    <a:solidFill>
                      <a:srgbClr val="0B2447"/>
                    </a:solidFill>
                  </a:tcPr>
                </a:tc>
              </a:tr>
              <a:tr h="457200">
                <a:tc>
                  <a:txBody>
                    <a:bodyPr/>
                    <a:lstStyle/>
                    <a:p>
                      <a:r>
                        <a:rPr sz="1400" b="1" i="0">
                          <a:solidFill>
                            <a:srgbClr val="0B2447"/>
                          </a:solidFill>
                          <a:latin typeface="Calibri"/>
                        </a:rPr>
                        <a:t>High</a:t>
                      </a:r>
                    </a:p>
                  </a:txBody>
                  <a:tcPr>
                    <a:solidFill>
                      <a:srgbClr val="FFFFFF"/>
                    </a:solidFill>
                  </a:tcPr>
                </a:tc>
                <a:tc>
                  <a:txBody>
                    <a:bodyPr/>
                    <a:lstStyle/>
                    <a:p>
                      <a:r>
                        <a:rPr sz="1400" b="0" i="0">
                          <a:solidFill>
                            <a:srgbClr val="0B2447"/>
                          </a:solidFill>
                          <a:latin typeface="Calibri"/>
                        </a:rPr>
                        <a:t>1.00</a:t>
                      </a:r>
                    </a:p>
                  </a:txBody>
                  <a:tcPr>
                    <a:solidFill>
                      <a:srgbClr val="FFFFFF"/>
                    </a:solidFill>
                  </a:tcPr>
                </a:tc>
                <a:tc>
                  <a:txBody>
                    <a:bodyPr/>
                    <a:lstStyle/>
                    <a:p>
                      <a:r>
                        <a:rPr sz="1400" b="0" i="0">
                          <a:solidFill>
                            <a:srgbClr val="0B2447"/>
                          </a:solidFill>
                          <a:latin typeface="Calibri"/>
                        </a:rPr>
                        <a:t>Falling balances → Lower digital activity → Reduced payroll activity</a:t>
                      </a:r>
                    </a:p>
                  </a:txBody>
                  <a:tcPr>
                    <a:solidFill>
                      <a:srgbClr val="FFFFFF"/>
                    </a:solidFill>
                  </a:tcPr>
                </a:tc>
              </a:tr>
              <a:tr h="457200">
                <a:tc>
                  <a:txBody>
                    <a:bodyPr/>
                    <a:lstStyle/>
                    <a:p>
                      <a:r>
                        <a:rPr sz="1400" b="1" i="0">
                          <a:solidFill>
                            <a:srgbClr val="0B2447"/>
                          </a:solidFill>
                          <a:latin typeface="Calibri"/>
                        </a:rPr>
                        <a:t>Medium</a:t>
                      </a:r>
                    </a:p>
                  </a:txBody>
                  <a:tcPr>
                    <a:solidFill>
                      <a:srgbClr val="F1F5F9"/>
                    </a:solidFill>
                  </a:tcPr>
                </a:tc>
                <a:tc>
                  <a:txBody>
                    <a:bodyPr/>
                    <a:lstStyle/>
                    <a:p>
                      <a:r>
                        <a:rPr sz="1400" b="0" i="0">
                          <a:solidFill>
                            <a:srgbClr val="0B2447"/>
                          </a:solidFill>
                          <a:latin typeface="Calibri"/>
                        </a:rPr>
                        <a:t>0.50</a:t>
                      </a:r>
                    </a:p>
                  </a:txBody>
                  <a:tcPr>
                    <a:solidFill>
                      <a:srgbClr val="F1F5F9"/>
                    </a:solidFill>
                  </a:tcPr>
                </a:tc>
                <a:tc>
                  <a:txBody>
                    <a:bodyPr/>
                    <a:lstStyle/>
                    <a:p>
                      <a:r>
                        <a:rPr sz="1400" b="0" i="0">
                          <a:solidFill>
                            <a:srgbClr val="0B2447"/>
                          </a:solidFill>
                          <a:latin typeface="Calibri"/>
                        </a:rPr>
                        <a:t>Declining credits → Concentrating counterparties → Declining transactions</a:t>
                      </a:r>
                    </a:p>
                  </a:txBody>
                  <a:tcPr>
                    <a:solidFill>
                      <a:srgbClr val="F1F5F9"/>
                    </a:solidFill>
                  </a:tcPr>
                </a:tc>
              </a:tr>
              <a:tr h="457200">
                <a:tc>
                  <a:txBody>
                    <a:bodyPr/>
                    <a:lstStyle/>
                    <a:p>
                      <a:r>
                        <a:rPr sz="1400" b="1" i="0">
                          <a:solidFill>
                            <a:srgbClr val="0B2447"/>
                          </a:solidFill>
                          <a:latin typeface="Calibri"/>
                        </a:rPr>
                        <a:t>Low</a:t>
                      </a:r>
                    </a:p>
                  </a:txBody>
                  <a:tcPr>
                    <a:solidFill>
                      <a:srgbClr val="FFFFFF"/>
                    </a:solidFill>
                  </a:tcPr>
                </a:tc>
                <a:tc>
                  <a:txBody>
                    <a:bodyPr/>
                    <a:lstStyle/>
                    <a:p>
                      <a:r>
                        <a:rPr sz="1400" b="0" i="0">
                          <a:solidFill>
                            <a:srgbClr val="0B2447"/>
                          </a:solidFill>
                          <a:latin typeface="Calibri"/>
                        </a:rPr>
                        <a:t>0.00</a:t>
                      </a:r>
                    </a:p>
                  </a:txBody>
                  <a:tcPr>
                    <a:solidFill>
                      <a:srgbClr val="FFFFFF"/>
                    </a:solidFill>
                  </a:tcPr>
                </a:tc>
                <a:tc>
                  <a:txBody>
                    <a:bodyPr/>
                    <a:lstStyle/>
                    <a:p>
                      <a:r>
                        <a:rPr sz="1400" b="0" i="0">
                          <a:solidFill>
                            <a:srgbClr val="0B2447"/>
                          </a:solidFill>
                          <a:latin typeface="Calibri"/>
                        </a:rPr>
                        <a:t>Narrowing product relationship → Rising complaints → Concentrating counterparties</a:t>
                      </a:r>
                    </a:p>
                  </a:txBody>
                  <a:tcPr>
                    <a:solidFill>
                      <a:srgbClr val="FFFFFF"/>
                    </a:solidFill>
                  </a:tcPr>
                </a:tc>
              </a:tr>
            </a:tbl>
          </a:graphicData>
        </a:graphic>
      </p:graphicFrame>
      <p:sp>
        <p:nvSpPr>
          <p:cNvPr id="8" name="TextBox 7"/>
          <p:cNvSpPr txBox="1"/>
          <p:nvPr/>
        </p:nvSpPr>
        <p:spPr>
          <a:xfrm>
            <a:off x="457200" y="6537960"/>
            <a:ext cx="8229600" cy="274320"/>
          </a:xfrm>
          <a:prstGeom prst="rect">
            <a:avLst/>
          </a:prstGeom>
          <a:noFill/>
        </p:spPr>
        <p:txBody>
          <a:bodyPr wrap="none">
            <a:spAutoFit/>
          </a:bodyPr>
          <a:lstStyle/>
          <a:p>
            <a:r>
              <a:rPr sz="900" b="0" i="0">
                <a:solidFill>
                  <a:srgbClr val="64748B"/>
                </a:solidFill>
                <a:latin typeface="Calibri"/>
              </a:rPr>
              <a:t>CIB Early Warning System  •  Agastya Sharma  •  github.com/agastyasharma20/cib-ews</a:t>
            </a:r>
          </a:p>
        </p:txBody>
      </p:sp>
      <p:sp>
        <p:nvSpPr>
          <p:cNvPr id="9" name="TextBox 8"/>
          <p:cNvSpPr txBox="1"/>
          <p:nvPr/>
        </p:nvSpPr>
        <p:spPr>
          <a:xfrm>
            <a:off x="11247120" y="6537960"/>
            <a:ext cx="548640" cy="274320"/>
          </a:xfrm>
          <a:prstGeom prst="rect">
            <a:avLst/>
          </a:prstGeom>
          <a:noFill/>
        </p:spPr>
        <p:txBody>
          <a:bodyPr wrap="none">
            <a:spAutoFit/>
          </a:bodyPr>
          <a:lstStyle/>
          <a:p>
            <a:pPr algn="r"/>
            <a:r>
              <a:rPr sz="900" b="0" i="0">
                <a:solidFill>
                  <a:srgbClr val="64748B"/>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11247120" cy="822960"/>
          </a:xfrm>
          <a:prstGeom prst="rect">
            <a:avLst/>
          </a:prstGeom>
          <a:noFill/>
        </p:spPr>
        <p:txBody>
          <a:bodyPr wrap="square">
            <a:spAutoFit/>
          </a:bodyPr>
          <a:lstStyle/>
          <a:p>
            <a:r>
              <a:rPr sz="1200" b="1" i="0">
                <a:solidFill>
                  <a:srgbClr val="FFC1CC"/>
                </a:solidFill>
                <a:latin typeface="Calibri"/>
              </a:rPr>
              <a:t>PHASE 6 — PFAR (PROBABILITY-WEIGHTED FUNDS AT RISK)</a:t>
            </a:r>
          </a:p>
          <a:p>
            <a:r>
              <a:rPr sz="2600" b="1" i="0">
                <a:solidFill>
                  <a:srgbClr val="FFFFFF"/>
                </a:solidFill>
                <a:latin typeface="Calibri"/>
              </a:rPr>
              <a:t>Risk Sizing &amp; Recommended Actions</a:t>
            </a:r>
          </a:p>
        </p:txBody>
      </p:sp>
      <p:sp>
        <p:nvSpPr>
          <p:cNvPr id="6" name="TextBox 5"/>
          <p:cNvSpPr txBox="1"/>
          <p:nvPr/>
        </p:nvSpPr>
        <p:spPr>
          <a:xfrm>
            <a:off x="777240" y="1417320"/>
            <a:ext cx="10607040" cy="640080"/>
          </a:xfrm>
          <a:prstGeom prst="rect">
            <a:avLst/>
          </a:prstGeom>
          <a:noFill/>
        </p:spPr>
        <p:txBody>
          <a:bodyPr wrap="none">
            <a:spAutoFit/>
          </a:bodyPr>
          <a:lstStyle/>
          <a:p>
            <a:pPr algn="ctr"/>
            <a:r>
              <a:rPr sz="2000" b="1" i="0">
                <a:solidFill>
                  <a:srgbClr val="B3001F"/>
                </a:solidFill>
                <a:latin typeface="Calibri"/>
              </a:rPr>
              <a:t>PFaR  =  90-day risk score  ×  (current balance × empirically-calibrated expected decline %)</a:t>
            </a:r>
          </a:p>
        </p:txBody>
      </p:sp>
      <p:sp>
        <p:nvSpPr>
          <p:cNvPr id="7" name="TextBox 6"/>
          <p:cNvSpPr txBox="1"/>
          <p:nvPr/>
        </p:nvSpPr>
        <p:spPr>
          <a:xfrm>
            <a:off x="640080" y="2286000"/>
            <a:ext cx="10881360" cy="2377440"/>
          </a:xfrm>
          <a:prstGeom prst="rect">
            <a:avLst/>
          </a:prstGeom>
          <a:noFill/>
        </p:spPr>
        <p:txBody>
          <a:bodyPr wrap="square">
            <a:spAutoFit/>
          </a:bodyPr>
          <a:lstStyle/>
          <a:p>
            <a:pPr>
              <a:spcBef>
                <a:spcPts val="1400"/>
              </a:spcBef>
            </a:pPr>
            <a:r>
              <a:rPr sz="1700" b="0" i="0">
                <a:solidFill>
                  <a:srgbClr val="0B2447"/>
                </a:solidFill>
                <a:latin typeface="Calibri"/>
              </a:rPr>
              <a:t>•  Decline % calibrated from OUR OWN historically-confirmed deterioration cases — never from the hidden ground truth (that would be leakage a real deployment could never replicate)</a:t>
            </a:r>
          </a:p>
          <a:p>
            <a:pPr>
              <a:spcBef>
                <a:spcPts val="1400"/>
              </a:spcBef>
            </a:pPr>
            <a:r>
              <a:rPr sz="1700" b="0" i="0">
                <a:solidFill>
                  <a:srgbClr val="0B2447"/>
                </a:solidFill>
                <a:latin typeface="Calibri"/>
              </a:rPr>
              <a:t>•  Decomposed into a driver TYPE — liquidity / relationship / competitor — from the customer's top reason code</a:t>
            </a:r>
          </a:p>
          <a:p>
            <a:pPr>
              <a:spcBef>
                <a:spcPts val="1400"/>
              </a:spcBef>
            </a:pPr>
            <a:r>
              <a:rPr sz="1700" b="0" i="0">
                <a:solidFill>
                  <a:srgbClr val="0B2447"/>
                </a:solidFill>
                <a:latin typeface="Calibri"/>
              </a:rPr>
              <a:t>•  RM action mapping: a swappable rules-based lookup (top reason code → action), interface shaped for a future contextual-bandit upgrade once real RM-outcome data exists</a:t>
            </a:r>
          </a:p>
        </p:txBody>
      </p:sp>
      <p:graphicFrame>
        <p:nvGraphicFramePr>
          <p:cNvPr id="8" name="Table 7"/>
          <p:cNvGraphicFramePr>
            <a:graphicFrameLocks noGrp="1"/>
          </p:cNvGraphicFramePr>
          <p:nvPr/>
        </p:nvGraphicFramePr>
        <p:xfrm>
          <a:off x="777240" y="4617720"/>
          <a:ext cx="10607040" cy="1645920"/>
        </p:xfrm>
        <a:graphic>
          <a:graphicData uri="http://schemas.openxmlformats.org/drawingml/2006/table">
            <a:tbl>
              <a:tblPr firstRow="1" bandRow="1">
                <a:tableStyleId>{5C22544A-7EE6-4342-B048-85BDC9FD1C3A}</a:tableStyleId>
              </a:tblPr>
              <a:tblGrid>
                <a:gridCol w="4846320"/>
                <a:gridCol w="5760720"/>
              </a:tblGrid>
              <a:tr h="411480">
                <a:tc>
                  <a:txBody>
                    <a:bodyPr/>
                    <a:lstStyle/>
                    <a:p>
                      <a:pPr algn="l"/>
                      <a:r>
                        <a:rPr sz="1400" b="1" i="0">
                          <a:solidFill>
                            <a:srgbClr val="FFFFFF"/>
                          </a:solidFill>
                          <a:latin typeface="Calibri"/>
                        </a:rPr>
                        <a:t>Reason code</a:t>
                      </a:r>
                    </a:p>
                  </a:txBody>
                  <a:tcPr>
                    <a:solidFill>
                      <a:srgbClr val="0B2447"/>
                    </a:solidFill>
                  </a:tcPr>
                </a:tc>
                <a:tc>
                  <a:txBody>
                    <a:bodyPr/>
                    <a:lstStyle/>
                    <a:p>
                      <a:pPr algn="l"/>
                      <a:r>
                        <a:rPr sz="1400" b="1" i="0">
                          <a:solidFill>
                            <a:srgbClr val="FFFFFF"/>
                          </a:solidFill>
                          <a:latin typeface="Calibri"/>
                        </a:rPr>
                        <a:t>Recommended action</a:t>
                      </a:r>
                    </a:p>
                  </a:txBody>
                  <a:tcPr>
                    <a:solidFill>
                      <a:srgbClr val="0B2447"/>
                    </a:solidFill>
                  </a:tcPr>
                </a:tc>
              </a:tr>
              <a:tr h="411480">
                <a:tc>
                  <a:txBody>
                    <a:bodyPr/>
                    <a:lstStyle/>
                    <a:p>
                      <a:r>
                        <a:rPr sz="1400" b="1" i="0">
                          <a:solidFill>
                            <a:srgbClr val="0B2447"/>
                          </a:solidFill>
                          <a:latin typeface="Calibri"/>
                        </a:rPr>
                        <a:t>Falling balances</a:t>
                      </a:r>
                    </a:p>
                  </a:txBody>
                  <a:tcPr>
                    <a:solidFill>
                      <a:srgbClr val="FFFFFF"/>
                    </a:solidFill>
                  </a:tcPr>
                </a:tc>
                <a:tc>
                  <a:txBody>
                    <a:bodyPr/>
                    <a:lstStyle/>
                    <a:p>
                      <a:r>
                        <a:rPr sz="1400" b="0" i="0">
                          <a:solidFill>
                            <a:srgbClr val="0B2447"/>
                          </a:solidFill>
                          <a:latin typeface="Calibri"/>
                        </a:rPr>
                        <a:t>Discuss liquidity requirements</a:t>
                      </a:r>
                    </a:p>
                  </a:txBody>
                  <a:tcPr>
                    <a:solidFill>
                      <a:srgbClr val="FFFFFF"/>
                    </a:solidFill>
                  </a:tcPr>
                </a:tc>
              </a:tr>
              <a:tr h="411480">
                <a:tc>
                  <a:txBody>
                    <a:bodyPr/>
                    <a:lstStyle/>
                    <a:p>
                      <a:r>
                        <a:rPr sz="1400" b="1" i="0">
                          <a:solidFill>
                            <a:srgbClr val="0B2447"/>
                          </a:solidFill>
                          <a:latin typeface="Calibri"/>
                        </a:rPr>
                        <a:t>Rising competitor-transfer share</a:t>
                      </a:r>
                    </a:p>
                  </a:txBody>
                  <a:tcPr>
                    <a:solidFill>
                      <a:srgbClr val="F1F5F9"/>
                    </a:solidFill>
                  </a:tcPr>
                </a:tc>
                <a:tc>
                  <a:txBody>
                    <a:bodyPr/>
                    <a:lstStyle/>
                    <a:p>
                      <a:r>
                        <a:rPr sz="1400" b="0" i="0">
                          <a:solidFill>
                            <a:srgbClr val="0B2447"/>
                          </a:solidFill>
                          <a:latin typeface="Calibri"/>
                        </a:rPr>
                        <a:t>Proactive wallet-share conversation / pricing review</a:t>
                      </a:r>
                    </a:p>
                  </a:txBody>
                  <a:tcPr>
                    <a:solidFill>
                      <a:srgbClr val="F1F5F9"/>
                    </a:solidFill>
                  </a:tcPr>
                </a:tc>
              </a:tr>
              <a:tr h="411480">
                <a:tc>
                  <a:txBody>
                    <a:bodyPr/>
                    <a:lstStyle/>
                    <a:p>
                      <a:r>
                        <a:rPr sz="1400" b="1" i="0">
                          <a:solidFill>
                            <a:srgbClr val="0B2447"/>
                          </a:solidFill>
                          <a:latin typeface="Calibri"/>
                        </a:rPr>
                        <a:t>Reduced payroll activity</a:t>
                      </a:r>
                    </a:p>
                  </a:txBody>
                  <a:tcPr>
                    <a:solidFill>
                      <a:srgbClr val="FFFFFF"/>
                    </a:solidFill>
                  </a:tcPr>
                </a:tc>
                <a:tc>
                  <a:txBody>
                    <a:bodyPr/>
                    <a:lstStyle/>
                    <a:p>
                      <a:r>
                        <a:rPr sz="1400" b="0" i="0">
                          <a:solidFill>
                            <a:srgbClr val="0B2447"/>
                          </a:solidFill>
                          <a:latin typeface="Calibri"/>
                        </a:rPr>
                        <a:t>Assess payroll migration risk</a:t>
                      </a:r>
                    </a:p>
                  </a:txBody>
                  <a:tcPr>
                    <a:solidFill>
                      <a:srgbClr val="FFFFFF"/>
                    </a:solidFill>
                  </a:tcPr>
                </a:tc>
              </a:tr>
            </a:tbl>
          </a:graphicData>
        </a:graphic>
      </p:graphicFrame>
      <p:sp>
        <p:nvSpPr>
          <p:cNvPr id="9" name="TextBox 8"/>
          <p:cNvSpPr txBox="1"/>
          <p:nvPr/>
        </p:nvSpPr>
        <p:spPr>
          <a:xfrm>
            <a:off x="457200" y="6537960"/>
            <a:ext cx="8229600" cy="274320"/>
          </a:xfrm>
          <a:prstGeom prst="rect">
            <a:avLst/>
          </a:prstGeom>
          <a:noFill/>
        </p:spPr>
        <p:txBody>
          <a:bodyPr wrap="none">
            <a:spAutoFit/>
          </a:bodyPr>
          <a:lstStyle/>
          <a:p>
            <a:r>
              <a:rPr sz="900" b="0" i="0">
                <a:solidFill>
                  <a:srgbClr val="64748B"/>
                </a:solidFill>
                <a:latin typeface="Calibri"/>
              </a:rPr>
              <a:t>CIB Early Warning System  •  Agastya Sharma  •  github.com/agastyasharma20/cib-ews</a:t>
            </a:r>
          </a:p>
        </p:txBody>
      </p:sp>
      <p:sp>
        <p:nvSpPr>
          <p:cNvPr id="10" name="TextBox 9"/>
          <p:cNvSpPr txBox="1"/>
          <p:nvPr/>
        </p:nvSpPr>
        <p:spPr>
          <a:xfrm>
            <a:off x="11247120" y="6537960"/>
            <a:ext cx="548640" cy="274320"/>
          </a:xfrm>
          <a:prstGeom prst="rect">
            <a:avLst/>
          </a:prstGeom>
          <a:noFill/>
        </p:spPr>
        <p:txBody>
          <a:bodyPr wrap="none">
            <a:spAutoFit/>
          </a:bodyPr>
          <a:lstStyle/>
          <a:p>
            <a:pPr algn="r"/>
            <a:r>
              <a:rPr sz="900" b="0" i="0">
                <a:solidFill>
                  <a:srgbClr val="64748B"/>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11247120" cy="822960"/>
          </a:xfrm>
          <a:prstGeom prst="rect">
            <a:avLst/>
          </a:prstGeom>
          <a:noFill/>
        </p:spPr>
        <p:txBody>
          <a:bodyPr wrap="square">
            <a:spAutoFit/>
          </a:bodyPr>
          <a:lstStyle/>
          <a:p>
            <a:r>
              <a:rPr sz="1200" b="1" i="0">
                <a:solidFill>
                  <a:srgbClr val="FFC1CC"/>
                </a:solidFill>
                <a:latin typeface="Calibri"/>
              </a:rPr>
              <a:t>PHASE 7 — TIME-TO-DETERIORATION</a:t>
            </a:r>
          </a:p>
          <a:p>
            <a:r>
              <a:rPr sz="2600" b="1" i="0">
                <a:solidFill>
                  <a:srgbClr val="FFFFFF"/>
                </a:solidFill>
                <a:latin typeface="Calibri"/>
              </a:rPr>
              <a:t>Survival Analysis — Estimating WHEN</a:t>
            </a:r>
          </a:p>
        </p:txBody>
      </p:sp>
      <p:sp>
        <p:nvSpPr>
          <p:cNvPr id="6" name="TextBox 5"/>
          <p:cNvSpPr txBox="1"/>
          <p:nvPr/>
        </p:nvSpPr>
        <p:spPr>
          <a:xfrm>
            <a:off x="640080" y="1417320"/>
            <a:ext cx="5577840" cy="3657600"/>
          </a:xfrm>
          <a:prstGeom prst="rect">
            <a:avLst/>
          </a:prstGeom>
          <a:noFill/>
        </p:spPr>
        <p:txBody>
          <a:bodyPr wrap="square">
            <a:spAutoFit/>
          </a:bodyPr>
          <a:lstStyle/>
          <a:p>
            <a:pPr>
              <a:spcBef>
                <a:spcPts val="1400"/>
              </a:spcBef>
            </a:pPr>
            <a:r>
              <a:rPr sz="1600" b="1" i="0">
                <a:solidFill>
                  <a:srgbClr val="B3001F"/>
                </a:solidFill>
                <a:latin typeface="Calibri"/>
              </a:rPr>
              <a:t>Tried first:  </a:t>
            </a:r>
            <a:r>
              <a:rPr sz="1600" b="0" i="0">
                <a:solidFill>
                  <a:srgbClr val="0B2447"/>
                </a:solidFill>
                <a:latin typeface="Calibri"/>
              </a:rPr>
              <a:t>CoxPHFitter — the standard approach.</a:t>
            </a:r>
          </a:p>
          <a:p>
            <a:pPr>
              <a:spcBef>
                <a:spcPts val="1400"/>
              </a:spcBef>
            </a:pPr>
            <a:r>
              <a:rPr sz="1600" b="1" i="0">
                <a:solidFill>
                  <a:srgbClr val="B3001F"/>
                </a:solidFill>
                <a:latin typeface="Calibri"/>
              </a:rPr>
              <a:t>Checked, not assumed:  </a:t>
            </a:r>
            <a:r>
              <a:rPr sz="1600" b="0" i="0">
                <a:solidFill>
                  <a:srgbClr val="0B2447"/>
                </a:solidFill>
                <a:latin typeface="Calibri"/>
              </a:rPr>
              <a:t>check_assumptions() flagged 11 of 24 covariates (46%) violating proportional hazards — pervasive, not borderline.</a:t>
            </a:r>
          </a:p>
          <a:p>
            <a:pPr>
              <a:spcBef>
                <a:spcPts val="1400"/>
              </a:spcBef>
            </a:pPr>
            <a:r>
              <a:rPr sz="1600" b="1" i="0">
                <a:solidFill>
                  <a:srgbClr val="B3001F"/>
                </a:solidFill>
                <a:latin typeface="Calibri"/>
              </a:rPr>
              <a:t>Switched to:  </a:t>
            </a:r>
            <a:r>
              <a:rPr sz="1600" b="0" i="0">
                <a:solidFill>
                  <a:srgbClr val="0B2447"/>
                </a:solidFill>
                <a:latin typeface="Calibri"/>
              </a:rPr>
              <a:t>Random Survival Forest — no such assumption. Concordance index 0.659 vs. Cox's 0.591.</a:t>
            </a:r>
          </a:p>
        </p:txBody>
      </p:sp>
      <p:pic>
        <p:nvPicPr>
          <p:cNvPr id="7" name="Picture 6" descr="survival_example_curves.png"/>
          <p:cNvPicPr>
            <a:picLocks noChangeAspect="1"/>
          </p:cNvPicPr>
          <p:nvPr/>
        </p:nvPicPr>
        <p:blipFill>
          <a:blip r:embed="rId2"/>
          <a:stretch>
            <a:fillRect/>
          </a:stretch>
        </p:blipFill>
        <p:spPr>
          <a:xfrm>
            <a:off x="3398367" y="1371600"/>
            <a:ext cx="5394960" cy="3596640"/>
          </a:xfrm>
          <a:prstGeom prst="rect">
            <a:avLst/>
          </a:prstGeom>
        </p:spPr>
      </p:pic>
      <p:sp>
        <p:nvSpPr>
          <p:cNvPr id="8" name="TextBox 7"/>
          <p:cNvSpPr txBox="1"/>
          <p:nvPr/>
        </p:nvSpPr>
        <p:spPr>
          <a:xfrm>
            <a:off x="640080" y="5806440"/>
            <a:ext cx="10881360" cy="365760"/>
          </a:xfrm>
          <a:prstGeom prst="rect">
            <a:avLst/>
          </a:prstGeom>
          <a:noFill/>
        </p:spPr>
        <p:txBody>
          <a:bodyPr wrap="none">
            <a:spAutoFit/>
          </a:bodyPr>
          <a:lstStyle/>
          <a:p>
            <a:pPr algn="ctr"/>
            <a:r>
              <a:rPr sz="1100" b="0" i="1">
                <a:solidFill>
                  <a:srgbClr val="64748B"/>
                </a:solidFill>
                <a:latin typeface="Calibri"/>
              </a:rPr>
              <a:t>0.659 is modest next to the classifiers' 0.90+ AUC — expected: this model gets ONE early snapshot per customer, not fresh features every month.</a:t>
            </a:r>
          </a:p>
        </p:txBody>
      </p:sp>
      <p:sp>
        <p:nvSpPr>
          <p:cNvPr id="9" name="TextBox 8"/>
          <p:cNvSpPr txBox="1"/>
          <p:nvPr/>
        </p:nvSpPr>
        <p:spPr>
          <a:xfrm>
            <a:off x="457200" y="6537960"/>
            <a:ext cx="8229600" cy="274320"/>
          </a:xfrm>
          <a:prstGeom prst="rect">
            <a:avLst/>
          </a:prstGeom>
          <a:noFill/>
        </p:spPr>
        <p:txBody>
          <a:bodyPr wrap="none">
            <a:spAutoFit/>
          </a:bodyPr>
          <a:lstStyle/>
          <a:p>
            <a:r>
              <a:rPr sz="900" b="0" i="0">
                <a:solidFill>
                  <a:srgbClr val="64748B"/>
                </a:solidFill>
                <a:latin typeface="Calibri"/>
              </a:rPr>
              <a:t>CIB Early Warning System  •  Agastya Sharma  •  github.com/agastyasharma20/cib-ews</a:t>
            </a:r>
          </a:p>
        </p:txBody>
      </p:sp>
      <p:sp>
        <p:nvSpPr>
          <p:cNvPr id="10" name="TextBox 9"/>
          <p:cNvSpPr txBox="1"/>
          <p:nvPr/>
        </p:nvSpPr>
        <p:spPr>
          <a:xfrm>
            <a:off x="11247120" y="6537960"/>
            <a:ext cx="548640" cy="274320"/>
          </a:xfrm>
          <a:prstGeom prst="rect">
            <a:avLst/>
          </a:prstGeom>
          <a:noFill/>
        </p:spPr>
        <p:txBody>
          <a:bodyPr wrap="none">
            <a:spAutoFit/>
          </a:bodyPr>
          <a:lstStyle/>
          <a:p>
            <a:pPr algn="r"/>
            <a:r>
              <a:rPr sz="900" b="0" i="0">
                <a:solidFill>
                  <a:srgbClr val="64748B"/>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11247120" cy="822960"/>
          </a:xfrm>
          <a:prstGeom prst="rect">
            <a:avLst/>
          </a:prstGeom>
          <a:noFill/>
        </p:spPr>
        <p:txBody>
          <a:bodyPr wrap="square">
            <a:spAutoFit/>
          </a:bodyPr>
          <a:lstStyle/>
          <a:p>
            <a:r>
              <a:rPr sz="1200" b="1" i="0">
                <a:solidFill>
                  <a:srgbClr val="FFC1CC"/>
                </a:solidFill>
                <a:latin typeface="Calibri"/>
              </a:rPr>
              <a:t>PHASE 8 (STRETCH) — NETWORKX WALLET-LEAKAGE GRAPH</a:t>
            </a:r>
          </a:p>
          <a:p>
            <a:r>
              <a:rPr sz="2600" b="1" i="0">
                <a:solidFill>
                  <a:srgbClr val="FFFFFF"/>
                </a:solidFill>
                <a:latin typeface="Calibri"/>
              </a:rPr>
              <a:t>Graph Feature — An Honest Negative Result</a:t>
            </a:r>
          </a:p>
        </p:txBody>
      </p:sp>
      <p:graphicFrame>
        <p:nvGraphicFramePr>
          <p:cNvPr id="6" name="Table 5"/>
          <p:cNvGraphicFramePr>
            <a:graphicFrameLocks noGrp="1"/>
          </p:cNvGraphicFramePr>
          <p:nvPr/>
        </p:nvGraphicFramePr>
        <p:xfrm>
          <a:off x="640080" y="1463040"/>
          <a:ext cx="7315200" cy="1371600"/>
        </p:xfrm>
        <a:graphic>
          <a:graphicData uri="http://schemas.openxmlformats.org/drawingml/2006/table">
            <a:tbl>
              <a:tblPr firstRow="1" bandRow="1">
                <a:tableStyleId>{5C22544A-7EE6-4342-B048-85BDC9FD1C3A}</a:tableStyleId>
              </a:tblPr>
              <a:tblGrid>
                <a:gridCol w="1463040"/>
                <a:gridCol w="3108960"/>
                <a:gridCol w="1371600"/>
                <a:gridCol w="1371600"/>
              </a:tblGrid>
              <a:tr h="457200">
                <a:tc>
                  <a:txBody>
                    <a:bodyPr/>
                    <a:lstStyle/>
                    <a:p>
                      <a:pPr algn="l"/>
                      <a:r>
                        <a:rPr sz="1500" b="1" i="0">
                          <a:solidFill>
                            <a:srgbClr val="FFFFFF"/>
                          </a:solidFill>
                          <a:latin typeface="Calibri"/>
                        </a:rPr>
                        <a:t>Horizon</a:t>
                      </a:r>
                    </a:p>
                  </a:txBody>
                  <a:tcPr>
                    <a:solidFill>
                      <a:srgbClr val="0B2447"/>
                    </a:solidFill>
                  </a:tcPr>
                </a:tc>
                <a:tc>
                  <a:txBody>
                    <a:bodyPr/>
                    <a:lstStyle/>
                    <a:p>
                      <a:pPr algn="l"/>
                      <a:r>
                        <a:rPr sz="1500" b="1" i="0">
                          <a:solidFill>
                            <a:srgbClr val="FFFFFF"/>
                          </a:solidFill>
                          <a:latin typeface="Calibri"/>
                        </a:rPr>
                        <a:t>Variant</a:t>
                      </a:r>
                    </a:p>
                  </a:txBody>
                  <a:tcPr>
                    <a:solidFill>
                      <a:srgbClr val="0B2447"/>
                    </a:solidFill>
                  </a:tcPr>
                </a:tc>
                <a:tc>
                  <a:txBody>
                    <a:bodyPr/>
                    <a:lstStyle/>
                    <a:p>
                      <a:pPr algn="l"/>
                      <a:r>
                        <a:rPr sz="1500" b="1" i="0">
                          <a:solidFill>
                            <a:srgbClr val="FFFFFF"/>
                          </a:solidFill>
                          <a:latin typeface="Calibri"/>
                        </a:rPr>
                        <a:t>ROC-AUC</a:t>
                      </a:r>
                    </a:p>
                  </a:txBody>
                  <a:tcPr>
                    <a:solidFill>
                      <a:srgbClr val="0B2447"/>
                    </a:solidFill>
                  </a:tcPr>
                </a:tc>
                <a:tc>
                  <a:txBody>
                    <a:bodyPr/>
                    <a:lstStyle/>
                    <a:p>
                      <a:pPr algn="l"/>
                      <a:r>
                        <a:rPr sz="1500" b="1" i="0">
                          <a:solidFill>
                            <a:srgbClr val="FFFFFF"/>
                          </a:solidFill>
                          <a:latin typeface="Calibri"/>
                        </a:rPr>
                        <a:t>PR-AUC</a:t>
                      </a:r>
                    </a:p>
                  </a:txBody>
                  <a:tcPr>
                    <a:solidFill>
                      <a:srgbClr val="0B2447"/>
                    </a:solidFill>
                  </a:tcPr>
                </a:tc>
              </a:tr>
              <a:tr h="457200">
                <a:tc>
                  <a:txBody>
                    <a:bodyPr/>
                    <a:lstStyle/>
                    <a:p>
                      <a:r>
                        <a:rPr sz="1500" b="1" i="0">
                          <a:solidFill>
                            <a:srgbClr val="0B2447"/>
                          </a:solidFill>
                          <a:latin typeface="Calibri"/>
                        </a:rPr>
                        <a:t>90d</a:t>
                      </a:r>
                    </a:p>
                  </a:txBody>
                  <a:tcPr>
                    <a:solidFill>
                      <a:srgbClr val="FFFFFF"/>
                    </a:solidFill>
                  </a:tcPr>
                </a:tc>
                <a:tc>
                  <a:txBody>
                    <a:bodyPr/>
                    <a:lstStyle/>
                    <a:p>
                      <a:r>
                        <a:rPr sz="1500" b="0" i="0">
                          <a:solidFill>
                            <a:srgbClr val="0B2447"/>
                          </a:solidFill>
                          <a:latin typeface="Calibri"/>
                        </a:rPr>
                        <a:t>Before (no graph)</a:t>
                      </a:r>
                    </a:p>
                  </a:txBody>
                  <a:tcPr>
                    <a:solidFill>
                      <a:srgbClr val="FFFFFF"/>
                    </a:solidFill>
                  </a:tcPr>
                </a:tc>
                <a:tc>
                  <a:txBody>
                    <a:bodyPr/>
                    <a:lstStyle/>
                    <a:p>
                      <a:r>
                        <a:rPr sz="1500" b="0" i="0">
                          <a:solidFill>
                            <a:srgbClr val="0B2447"/>
                          </a:solidFill>
                          <a:latin typeface="Calibri"/>
                        </a:rPr>
                        <a:t>0.9585</a:t>
                      </a:r>
                    </a:p>
                  </a:txBody>
                  <a:tcPr>
                    <a:solidFill>
                      <a:srgbClr val="FFFFFF"/>
                    </a:solidFill>
                  </a:tcPr>
                </a:tc>
                <a:tc>
                  <a:txBody>
                    <a:bodyPr/>
                    <a:lstStyle/>
                    <a:p>
                      <a:r>
                        <a:rPr sz="1500" b="0" i="0">
                          <a:solidFill>
                            <a:srgbClr val="0B2447"/>
                          </a:solidFill>
                          <a:latin typeface="Calibri"/>
                        </a:rPr>
                        <a:t>0.9027</a:t>
                      </a:r>
                    </a:p>
                  </a:txBody>
                  <a:tcPr>
                    <a:solidFill>
                      <a:srgbClr val="FFFFFF"/>
                    </a:solidFill>
                  </a:tcPr>
                </a:tc>
              </a:tr>
              <a:tr h="457200">
                <a:tc>
                  <a:txBody>
                    <a:bodyPr/>
                    <a:lstStyle/>
                    <a:p>
                      <a:r>
                        <a:rPr sz="1500" b="1" i="0">
                          <a:solidFill>
                            <a:srgbClr val="0B2447"/>
                          </a:solidFill>
                          <a:latin typeface="Calibri"/>
                        </a:rPr>
                        <a:t>90d</a:t>
                      </a:r>
                    </a:p>
                  </a:txBody>
                  <a:tcPr>
                    <a:solidFill>
                      <a:srgbClr val="F1F5F9"/>
                    </a:solidFill>
                  </a:tcPr>
                </a:tc>
                <a:tc>
                  <a:txBody>
                    <a:bodyPr/>
                    <a:lstStyle/>
                    <a:p>
                      <a:r>
                        <a:rPr sz="1500" b="0" i="0">
                          <a:solidFill>
                            <a:srgbClr val="0B2447"/>
                          </a:solidFill>
                          <a:latin typeface="Calibri"/>
                        </a:rPr>
                        <a:t>After (+ graph feature)</a:t>
                      </a:r>
                    </a:p>
                  </a:txBody>
                  <a:tcPr>
                    <a:solidFill>
                      <a:srgbClr val="F1F5F9"/>
                    </a:solidFill>
                  </a:tcPr>
                </a:tc>
                <a:tc>
                  <a:txBody>
                    <a:bodyPr/>
                    <a:lstStyle/>
                    <a:p>
                      <a:r>
                        <a:rPr sz="1500" b="0" i="0">
                          <a:solidFill>
                            <a:srgbClr val="0B2447"/>
                          </a:solidFill>
                          <a:latin typeface="Calibri"/>
                        </a:rPr>
                        <a:t>0.9580</a:t>
                      </a:r>
                    </a:p>
                  </a:txBody>
                  <a:tcPr>
                    <a:solidFill>
                      <a:srgbClr val="F1F5F9"/>
                    </a:solidFill>
                  </a:tcPr>
                </a:tc>
                <a:tc>
                  <a:txBody>
                    <a:bodyPr/>
                    <a:lstStyle/>
                    <a:p>
                      <a:r>
                        <a:rPr sz="1500" b="0" i="0">
                          <a:solidFill>
                            <a:srgbClr val="0B2447"/>
                          </a:solidFill>
                          <a:latin typeface="Calibri"/>
                        </a:rPr>
                        <a:t>0.9019</a:t>
                      </a:r>
                    </a:p>
                  </a:txBody>
                  <a:tcPr>
                    <a:solidFill>
                      <a:srgbClr val="F1F5F9"/>
                    </a:solidFill>
                  </a:tcPr>
                </a:tc>
              </a:tr>
            </a:tbl>
          </a:graphicData>
        </a:graphic>
      </p:graphicFrame>
      <p:sp>
        <p:nvSpPr>
          <p:cNvPr id="7" name="TextBox 6"/>
          <p:cNvSpPr txBox="1"/>
          <p:nvPr/>
        </p:nvSpPr>
        <p:spPr>
          <a:xfrm>
            <a:off x="640080" y="3017520"/>
            <a:ext cx="10881360" cy="3108960"/>
          </a:xfrm>
          <a:prstGeom prst="rect">
            <a:avLst/>
          </a:prstGeom>
          <a:noFill/>
        </p:spPr>
        <p:txBody>
          <a:bodyPr wrap="square">
            <a:spAutoFit/>
          </a:bodyPr>
          <a:lstStyle/>
          <a:p>
            <a:pPr>
              <a:spcBef>
                <a:spcPts val="1400"/>
              </a:spcBef>
            </a:pPr>
            <a:r>
              <a:rPr sz="1600" b="1" i="0">
                <a:solidFill>
                  <a:srgbClr val="B3001F"/>
                </a:solidFill>
                <a:latin typeface="Calibri"/>
              </a:rPr>
              <a:t>No lift:  </a:t>
            </a:r>
            <a:r>
              <a:rPr sz="1600" b="0" i="0">
                <a:solidFill>
                  <a:srgbClr val="0B2447"/>
                </a:solidFill>
                <a:latin typeface="Calibri"/>
              </a:rPr>
              <a:t>flat to very slightly worse at every horizon; ranks 14th–25th of 27 features by SHAP.</a:t>
            </a:r>
          </a:p>
          <a:p>
            <a:pPr>
              <a:spcBef>
                <a:spcPts val="1400"/>
              </a:spcBef>
            </a:pPr>
            <a:r>
              <a:rPr sz="1600" b="1" i="0">
                <a:solidFill>
                  <a:srgbClr val="B3001F"/>
                </a:solidFill>
                <a:latin typeface="Calibri"/>
              </a:rPr>
              <a:t>Root cause, confirmed:  </a:t>
            </a:r>
            <a:r>
              <a:rPr sz="1600" b="0" i="0">
                <a:solidFill>
                  <a:srgbClr val="0B2447"/>
                </a:solidFill>
                <a:latin typeface="Calibri"/>
              </a:rPr>
              <a:t>the graph feature correlates 0.88–0.91 with an existing Phase 2 feature built from the same transactions — methodologically distinct, mostly redundant information.</a:t>
            </a:r>
          </a:p>
          <a:p>
            <a:pPr>
              <a:spcBef>
                <a:spcPts val="1400"/>
              </a:spcBef>
            </a:pPr>
            <a:r>
              <a:rPr sz="1600" b="1" i="0">
                <a:solidFill>
                  <a:srgbClr val="B3001F"/>
                </a:solidFill>
                <a:latin typeface="Calibri"/>
              </a:rPr>
              <a:t>Why keep it:  </a:t>
            </a:r>
            <a:r>
              <a:rPr sz="1600" b="0" i="0">
                <a:solidFill>
                  <a:srgbClr val="0B2447"/>
                </a:solidFill>
                <a:latin typeface="Calibri"/>
              </a:rPr>
              <a:t>shows the negative result was investigated and explained, not hidden — and the graph is the right extension point once real counterparty-entity data exists.</a:t>
            </a:r>
          </a:p>
        </p:txBody>
      </p:sp>
      <p:sp>
        <p:nvSpPr>
          <p:cNvPr id="8" name="TextBox 7"/>
          <p:cNvSpPr txBox="1"/>
          <p:nvPr/>
        </p:nvSpPr>
        <p:spPr>
          <a:xfrm>
            <a:off x="457200" y="6537960"/>
            <a:ext cx="8229600" cy="274320"/>
          </a:xfrm>
          <a:prstGeom prst="rect">
            <a:avLst/>
          </a:prstGeom>
          <a:noFill/>
        </p:spPr>
        <p:txBody>
          <a:bodyPr wrap="none">
            <a:spAutoFit/>
          </a:bodyPr>
          <a:lstStyle/>
          <a:p>
            <a:r>
              <a:rPr sz="900" b="0" i="0">
                <a:solidFill>
                  <a:srgbClr val="64748B"/>
                </a:solidFill>
                <a:latin typeface="Calibri"/>
              </a:rPr>
              <a:t>CIB Early Warning System  •  Agastya Sharma  •  github.com/agastyasharma20/cib-ews</a:t>
            </a:r>
          </a:p>
        </p:txBody>
      </p:sp>
      <p:sp>
        <p:nvSpPr>
          <p:cNvPr id="9" name="TextBox 8"/>
          <p:cNvSpPr txBox="1"/>
          <p:nvPr/>
        </p:nvSpPr>
        <p:spPr>
          <a:xfrm>
            <a:off x="11247120" y="6537960"/>
            <a:ext cx="548640" cy="274320"/>
          </a:xfrm>
          <a:prstGeom prst="rect">
            <a:avLst/>
          </a:prstGeom>
          <a:noFill/>
        </p:spPr>
        <p:txBody>
          <a:bodyPr wrap="none">
            <a:spAutoFit/>
          </a:bodyPr>
          <a:lstStyle/>
          <a:p>
            <a:pPr algn="r"/>
            <a:r>
              <a:rPr sz="900" b="0" i="0">
                <a:solidFill>
                  <a:srgbClr val="64748B"/>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11247120" cy="822960"/>
          </a:xfrm>
          <a:prstGeom prst="rect">
            <a:avLst/>
          </a:prstGeom>
          <a:noFill/>
        </p:spPr>
        <p:txBody>
          <a:bodyPr wrap="square">
            <a:spAutoFit/>
          </a:bodyPr>
          <a:lstStyle/>
          <a:p>
            <a:r>
              <a:rPr sz="1200" b="1" i="0">
                <a:solidFill>
                  <a:srgbClr val="FFC1CC"/>
                </a:solidFill>
                <a:latin typeface="Calibri"/>
              </a:rPr>
              <a:t>PHASE 9 — RM COCKPIT + PORTFOLIO VIEW</a:t>
            </a:r>
          </a:p>
          <a:p>
            <a:r>
              <a:rPr sz="2600" b="1" i="0">
                <a:solidFill>
                  <a:srgbClr val="FFFFFF"/>
                </a:solidFill>
                <a:latin typeface="Calibri"/>
              </a:rPr>
              <a:t>The Dashboard</a:t>
            </a:r>
          </a:p>
        </p:txBody>
      </p:sp>
      <p:pic>
        <p:nvPicPr>
          <p:cNvPr id="6" name="Picture 5" descr="dashboard_rm_cockpit.png"/>
          <p:cNvPicPr>
            <a:picLocks noChangeAspect="1"/>
          </p:cNvPicPr>
          <p:nvPr/>
        </p:nvPicPr>
        <p:blipFill>
          <a:blip r:embed="rId2"/>
          <a:stretch>
            <a:fillRect/>
          </a:stretch>
        </p:blipFill>
        <p:spPr>
          <a:xfrm>
            <a:off x="655167" y="1280160"/>
            <a:ext cx="10881360" cy="3766624"/>
          </a:xfrm>
          <a:prstGeom prst="rect">
            <a:avLst/>
          </a:prstGeom>
        </p:spPr>
      </p:pic>
      <p:sp>
        <p:nvSpPr>
          <p:cNvPr id="7" name="TextBox 6"/>
          <p:cNvSpPr txBox="1"/>
          <p:nvPr/>
        </p:nvSpPr>
        <p:spPr>
          <a:xfrm>
            <a:off x="640080" y="6400800"/>
            <a:ext cx="10881360" cy="365760"/>
          </a:xfrm>
          <a:prstGeom prst="rect">
            <a:avLst/>
          </a:prstGeom>
          <a:noFill/>
        </p:spPr>
        <p:txBody>
          <a:bodyPr wrap="none">
            <a:spAutoFit/>
          </a:bodyPr>
          <a:lstStyle/>
          <a:p>
            <a:pPr algn="ctr"/>
            <a:r>
              <a:rPr sz="1100" b="0" i="1">
                <a:solidFill>
                  <a:srgbClr val="64748B"/>
                </a:solidFill>
                <a:latin typeface="Calibri"/>
              </a:rPr>
              <a:t>RM Cockpit: PFaR-ranked, filterable, with plain-language reason codes and an inline survival-curve sparkline per customer.</a:t>
            </a:r>
          </a:p>
        </p:txBody>
      </p:sp>
      <p:sp>
        <p:nvSpPr>
          <p:cNvPr id="8" name="TextBox 7"/>
          <p:cNvSpPr txBox="1"/>
          <p:nvPr/>
        </p:nvSpPr>
        <p:spPr>
          <a:xfrm>
            <a:off x="457200" y="6537960"/>
            <a:ext cx="8229600" cy="274320"/>
          </a:xfrm>
          <a:prstGeom prst="rect">
            <a:avLst/>
          </a:prstGeom>
          <a:noFill/>
        </p:spPr>
        <p:txBody>
          <a:bodyPr wrap="none">
            <a:spAutoFit/>
          </a:bodyPr>
          <a:lstStyle/>
          <a:p>
            <a:r>
              <a:rPr sz="900" b="0" i="0">
                <a:solidFill>
                  <a:srgbClr val="64748B"/>
                </a:solidFill>
                <a:latin typeface="Calibri"/>
              </a:rPr>
              <a:t>CIB Early Warning System  •  Agastya Sharma  •  github.com/agastyasharma20/cib-ews</a:t>
            </a:r>
          </a:p>
        </p:txBody>
      </p:sp>
      <p:sp>
        <p:nvSpPr>
          <p:cNvPr id="9" name="TextBox 8"/>
          <p:cNvSpPr txBox="1"/>
          <p:nvPr/>
        </p:nvSpPr>
        <p:spPr>
          <a:xfrm>
            <a:off x="11247120" y="6537960"/>
            <a:ext cx="548640" cy="274320"/>
          </a:xfrm>
          <a:prstGeom prst="rect">
            <a:avLst/>
          </a:prstGeom>
          <a:noFill/>
        </p:spPr>
        <p:txBody>
          <a:bodyPr wrap="none">
            <a:spAutoFit/>
          </a:bodyPr>
          <a:lstStyle/>
          <a:p>
            <a:pPr algn="r"/>
            <a:r>
              <a:rPr sz="900" b="0" i="0">
                <a:solidFill>
                  <a:srgbClr val="64748B"/>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11247120" cy="822960"/>
          </a:xfrm>
          <a:prstGeom prst="rect">
            <a:avLst/>
          </a:prstGeom>
          <a:noFill/>
        </p:spPr>
        <p:txBody>
          <a:bodyPr wrap="square">
            <a:spAutoFit/>
          </a:bodyPr>
          <a:lstStyle/>
          <a:p>
            <a:r>
              <a:rPr sz="1200" b="1" i="0">
                <a:solidFill>
                  <a:srgbClr val="FFC1CC"/>
                </a:solidFill>
                <a:latin typeface="Calibri"/>
              </a:rPr>
              <a:t>BUSINESS FRAMING, NOT A REAL REVENUE ESTIMATE</a:t>
            </a:r>
          </a:p>
          <a:p>
            <a:r>
              <a:rPr sz="2600" b="1" i="0">
                <a:solidFill>
                  <a:srgbClr val="FFFFFF"/>
                </a:solidFill>
                <a:latin typeface="Calibri"/>
              </a:rPr>
              <a:t>Why This Could Matter for HDFC</a:t>
            </a:r>
          </a:p>
        </p:txBody>
      </p:sp>
      <p:sp>
        <p:nvSpPr>
          <p:cNvPr id="6" name="TextBox 5"/>
          <p:cNvSpPr txBox="1"/>
          <p:nvPr/>
        </p:nvSpPr>
        <p:spPr>
          <a:xfrm>
            <a:off x="640080" y="1417320"/>
            <a:ext cx="10881360" cy="4846320"/>
          </a:xfrm>
          <a:prstGeom prst="rect">
            <a:avLst/>
          </a:prstGeom>
          <a:noFill/>
        </p:spPr>
        <p:txBody>
          <a:bodyPr wrap="square">
            <a:spAutoFit/>
          </a:bodyPr>
          <a:lstStyle/>
          <a:p>
            <a:pPr>
              <a:spcBef>
                <a:spcPts val="1400"/>
              </a:spcBef>
            </a:pPr>
            <a:r>
              <a:rPr sz="1600" b="1" i="0">
                <a:solidFill>
                  <a:srgbClr val="B3001F"/>
                </a:solidFill>
                <a:latin typeface="Calibri"/>
              </a:rPr>
              <a:t>CIB relationships are high-value —  </a:t>
            </a:r>
            <a:r>
              <a:rPr sz="1600" b="0" i="0">
                <a:solidFill>
                  <a:srgbClr val="0B2447"/>
                </a:solidFill>
                <a:latin typeface="Calibri"/>
              </a:rPr>
              <a:t>large balances, deep cross-sell, and expensive to win back once fully gone. Even a modest improvement in EARLY detection compounds at portfolio scale.</a:t>
            </a:r>
          </a:p>
          <a:p>
            <a:pPr>
              <a:spcBef>
                <a:spcPts val="1400"/>
              </a:spcBef>
            </a:pPr>
            <a:r>
              <a:rPr sz="1600" b="1" i="0">
                <a:solidFill>
                  <a:srgbClr val="B3001F"/>
                </a:solidFill>
                <a:latin typeface="Calibri"/>
              </a:rPr>
              <a:t>Shifts RM effort from reactive to prioritized —  </a:t>
            </a:r>
            <a:r>
              <a:rPr sz="1600" b="0" i="0">
                <a:solidFill>
                  <a:srgbClr val="0B2447"/>
                </a:solidFill>
                <a:latin typeface="Calibri"/>
              </a:rPr>
              <a:t>instead of a monthly balance report an RM notices too late, a ranked worklist with a reason and a specific action.</a:t>
            </a:r>
          </a:p>
          <a:p>
            <a:pPr>
              <a:spcBef>
                <a:spcPts val="1400"/>
              </a:spcBef>
            </a:pPr>
            <a:r>
              <a:rPr sz="1600" b="1" i="0">
                <a:solidFill>
                  <a:srgbClr val="B3001F"/>
                </a:solidFill>
                <a:latin typeface="Calibri"/>
              </a:rPr>
              <a:t>The ₹8,570 Cr flagged exposure on this synthetic 5,000-customer book isn't a real estimate —  </a:t>
            </a:r>
            <a:r>
              <a:rPr sz="1600" b="0" i="0">
                <a:solidFill>
                  <a:srgbClr val="0B2447"/>
                </a:solidFill>
                <a:latin typeface="Calibri"/>
              </a:rPr>
              <a:t> it's a demonstration of the SHAPE of the calculation a real portfolio-scale PFaR number would take.</a:t>
            </a:r>
          </a:p>
          <a:p>
            <a:pPr>
              <a:spcBef>
                <a:spcPts val="1400"/>
              </a:spcBef>
            </a:pPr>
            <a:r>
              <a:rPr sz="1600" b="1" i="0">
                <a:solidFill>
                  <a:srgbClr val="B3001F"/>
                </a:solidFill>
                <a:latin typeface="Calibri"/>
              </a:rPr>
              <a:t>The real ask:  </a:t>
            </a:r>
            <a:r>
              <a:rPr sz="1600" b="0" i="0">
                <a:solidFill>
                  <a:srgbClr val="0B2447"/>
                </a:solidFill>
                <a:latin typeface="Calibri"/>
              </a:rPr>
              <a:t>a chance to do this analysis on real (anonymized/sampled) CIB data, where every threshold and calibration in this deck would be re-tuned, not reused blindly (see the Path to Production section of docs/methodology.md).</a:t>
            </a:r>
          </a:p>
        </p:txBody>
      </p:sp>
      <p:sp>
        <p:nvSpPr>
          <p:cNvPr id="7" name="TextBox 6"/>
          <p:cNvSpPr txBox="1"/>
          <p:nvPr/>
        </p:nvSpPr>
        <p:spPr>
          <a:xfrm>
            <a:off x="457200" y="6537960"/>
            <a:ext cx="8229600" cy="274320"/>
          </a:xfrm>
          <a:prstGeom prst="rect">
            <a:avLst/>
          </a:prstGeom>
          <a:noFill/>
        </p:spPr>
        <p:txBody>
          <a:bodyPr wrap="none">
            <a:spAutoFit/>
          </a:bodyPr>
          <a:lstStyle/>
          <a:p>
            <a:r>
              <a:rPr sz="900" b="0" i="0">
                <a:solidFill>
                  <a:srgbClr val="64748B"/>
                </a:solidFill>
                <a:latin typeface="Calibri"/>
              </a:rPr>
              <a:t>CIB Early Warning System  •  Agastya Sharma  •  github.com/agastyasharma20/cib-ews</a:t>
            </a:r>
          </a:p>
        </p:txBody>
      </p:sp>
      <p:sp>
        <p:nvSpPr>
          <p:cNvPr id="8" name="TextBox 7"/>
          <p:cNvSpPr txBox="1"/>
          <p:nvPr/>
        </p:nvSpPr>
        <p:spPr>
          <a:xfrm>
            <a:off x="11247120" y="6537960"/>
            <a:ext cx="548640" cy="274320"/>
          </a:xfrm>
          <a:prstGeom prst="rect">
            <a:avLst/>
          </a:prstGeom>
          <a:noFill/>
        </p:spPr>
        <p:txBody>
          <a:bodyPr wrap="none">
            <a:spAutoFit/>
          </a:bodyPr>
          <a:lstStyle/>
          <a:p>
            <a:pPr algn="r"/>
            <a:r>
              <a:rPr sz="900" b="0" i="0">
                <a:solidFill>
                  <a:srgbClr val="64748B"/>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11247120" cy="822960"/>
          </a:xfrm>
          <a:prstGeom prst="rect">
            <a:avLst/>
          </a:prstGeom>
          <a:noFill/>
        </p:spPr>
        <p:txBody>
          <a:bodyPr wrap="square">
            <a:spAutoFit/>
          </a:bodyPr>
          <a:lstStyle/>
          <a:p>
            <a:r>
              <a:rPr sz="1200" b="1" i="0">
                <a:solidFill>
                  <a:srgbClr val="FFC1CC"/>
                </a:solidFill>
                <a:latin typeface="Calibri"/>
              </a:rPr>
              <a:t>HOW THIS GROWS FROM A PORTFOLIO PROJECT INTO A STRONGER ONE</a:t>
            </a:r>
          </a:p>
          <a:p>
            <a:r>
              <a:rPr sz="2600" b="1" i="0">
                <a:solidFill>
                  <a:srgbClr val="FFFFFF"/>
                </a:solidFill>
                <a:latin typeface="Calibri"/>
              </a:rPr>
              <a:t>Innovation &amp; What's Next</a:t>
            </a:r>
          </a:p>
        </p:txBody>
      </p:sp>
      <p:sp>
        <p:nvSpPr>
          <p:cNvPr id="6" name="TextBox 5"/>
          <p:cNvSpPr txBox="1"/>
          <p:nvPr/>
        </p:nvSpPr>
        <p:spPr>
          <a:xfrm>
            <a:off x="640080" y="1417320"/>
            <a:ext cx="10881360" cy="4846320"/>
          </a:xfrm>
          <a:prstGeom prst="rect">
            <a:avLst/>
          </a:prstGeom>
          <a:noFill/>
        </p:spPr>
        <p:txBody>
          <a:bodyPr wrap="square">
            <a:spAutoFit/>
          </a:bodyPr>
          <a:lstStyle/>
          <a:p>
            <a:pPr>
              <a:spcBef>
                <a:spcPts val="1200"/>
              </a:spcBef>
            </a:pPr>
            <a:r>
              <a:rPr sz="1550" b="1" i="0">
                <a:solidFill>
                  <a:srgbClr val="B3001F"/>
                </a:solidFill>
                <a:latin typeface="Calibri"/>
              </a:rPr>
              <a:t>Close the one gap myself:  </a:t>
            </a:r>
            <a:r>
              <a:rPr sz="1550" b="0" i="0">
                <a:solidFill>
                  <a:srgbClr val="0B2447"/>
                </a:solidFill>
                <a:latin typeface="Calibri"/>
              </a:rPr>
              <a:t>an automated test suite (label thresholds, feature leakage-safety, PFaR logic) — the one thing this project doesn't have yet.</a:t>
            </a:r>
          </a:p>
          <a:p>
            <a:pPr>
              <a:spcBef>
                <a:spcPts val="1200"/>
              </a:spcBef>
            </a:pPr>
            <a:r>
              <a:rPr sz="1550" b="1" i="0">
                <a:solidFill>
                  <a:srgbClr val="B3001F"/>
                </a:solidFill>
                <a:latin typeface="Calibri"/>
              </a:rPr>
              <a:t>Contextual bandit RM-action recommender:  </a:t>
            </a:r>
            <a:r>
              <a:rPr sz="1550" b="0" i="0">
                <a:solidFill>
                  <a:srgbClr val="0B2447"/>
                </a:solidFill>
                <a:latin typeface="Calibri"/>
              </a:rPr>
              <a:t>the action-engine interface is already shaped for it — needs real RM-outcome data to learn from, not more code.</a:t>
            </a:r>
          </a:p>
          <a:p>
            <a:pPr>
              <a:spcBef>
                <a:spcPts val="1200"/>
              </a:spcBef>
            </a:pPr>
            <a:r>
              <a:rPr sz="1550" b="1" i="0">
                <a:solidFill>
                  <a:srgbClr val="B3001F"/>
                </a:solidFill>
                <a:latin typeface="Calibri"/>
              </a:rPr>
              <a:t>The REAL wallet-leakage graph:  </a:t>
            </a:r>
            <a:r>
              <a:rPr sz="1550" b="0" i="0">
                <a:solidFill>
                  <a:srgbClr val="0B2447"/>
                </a:solidFill>
                <a:latin typeface="Calibri"/>
              </a:rPr>
              <a:t>customer↔customer, via shared vendors/directors, once entity-level counterparty data exists — Phase 8 showed exactly why the bank-level version fell short.</a:t>
            </a:r>
          </a:p>
          <a:p>
            <a:pPr>
              <a:spcBef>
                <a:spcPts val="1200"/>
              </a:spcBef>
            </a:pPr>
            <a:r>
              <a:rPr sz="1550" b="1" i="0">
                <a:solidFill>
                  <a:srgbClr val="B3001F"/>
                </a:solidFill>
                <a:latin typeface="Calibri"/>
              </a:rPr>
              <a:t>Model monitoring:  </a:t>
            </a:r>
            <a:r>
              <a:rPr sz="1550" b="0" i="0">
                <a:solidFill>
                  <a:srgbClr val="0B2447"/>
                </a:solidFill>
                <a:latin typeface="Calibri"/>
              </a:rPr>
              <a:t>track PR-AUC and calibration drift over time as real data accumulates, not just a one-time evaluation.</a:t>
            </a:r>
          </a:p>
          <a:p>
            <a:pPr>
              <a:spcBef>
                <a:spcPts val="1200"/>
              </a:spcBef>
            </a:pPr>
            <a:r>
              <a:rPr sz="1550" b="1" i="0">
                <a:solidFill>
                  <a:srgbClr val="B3001F"/>
                </a:solidFill>
                <a:latin typeface="Calibri"/>
              </a:rPr>
              <a:t>NLP on RM call notes / service tickets:  </a:t>
            </a:r>
            <a:r>
              <a:rPr sz="1550" b="0" i="0">
                <a:solidFill>
                  <a:srgbClr val="0B2447"/>
                </a:solidFill>
                <a:latin typeface="Calibri"/>
              </a:rPr>
              <a:t>a 6th feature group, using text the current data doesn't include.</a:t>
            </a:r>
          </a:p>
        </p:txBody>
      </p:sp>
      <p:sp>
        <p:nvSpPr>
          <p:cNvPr id="7" name="TextBox 6"/>
          <p:cNvSpPr txBox="1"/>
          <p:nvPr/>
        </p:nvSpPr>
        <p:spPr>
          <a:xfrm>
            <a:off x="457200" y="6537960"/>
            <a:ext cx="8229600" cy="274320"/>
          </a:xfrm>
          <a:prstGeom prst="rect">
            <a:avLst/>
          </a:prstGeom>
          <a:noFill/>
        </p:spPr>
        <p:txBody>
          <a:bodyPr wrap="none">
            <a:spAutoFit/>
          </a:bodyPr>
          <a:lstStyle/>
          <a:p>
            <a:r>
              <a:rPr sz="900" b="0" i="0">
                <a:solidFill>
                  <a:srgbClr val="64748B"/>
                </a:solidFill>
                <a:latin typeface="Calibri"/>
              </a:rPr>
              <a:t>CIB Early Warning System  •  Agastya Sharma  •  github.com/agastyasharma20/cib-ews</a:t>
            </a:r>
          </a:p>
        </p:txBody>
      </p:sp>
      <p:sp>
        <p:nvSpPr>
          <p:cNvPr id="8" name="TextBox 7"/>
          <p:cNvSpPr txBox="1"/>
          <p:nvPr/>
        </p:nvSpPr>
        <p:spPr>
          <a:xfrm>
            <a:off x="11247120" y="6537960"/>
            <a:ext cx="548640" cy="274320"/>
          </a:xfrm>
          <a:prstGeom prst="rect">
            <a:avLst/>
          </a:prstGeom>
          <a:noFill/>
        </p:spPr>
        <p:txBody>
          <a:bodyPr wrap="none">
            <a:spAutoFit/>
          </a:bodyPr>
          <a:lstStyle/>
          <a:p>
            <a:pPr algn="r"/>
            <a:r>
              <a:rPr sz="900" b="0" i="0">
                <a:solidFill>
                  <a:srgbClr val="64748B"/>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51560"/>
            <a:ext cx="12191695" cy="5080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
            <a:ext cx="11247120" cy="822960"/>
          </a:xfrm>
          <a:prstGeom prst="rect">
            <a:avLst/>
          </a:prstGeom>
          <a:noFill/>
        </p:spPr>
        <p:txBody>
          <a:bodyPr wrap="square">
            <a:spAutoFit/>
          </a:bodyPr>
          <a:lstStyle/>
          <a:p>
            <a:r>
              <a:rPr sz="1200" b="1" i="0">
                <a:solidFill>
                  <a:srgbClr val="FFC1CC"/>
                </a:solidFill>
                <a:latin typeface="Calibri"/>
              </a:rPr>
              <a:t>BEING DIRECT ABOUT WHAT CHANGES WITH REAL DATA</a:t>
            </a:r>
          </a:p>
          <a:p>
            <a:r>
              <a:rPr sz="2600" b="1" i="0">
                <a:solidFill>
                  <a:srgbClr val="FFFFFF"/>
                </a:solidFill>
                <a:latin typeface="Calibri"/>
              </a:rPr>
              <a:t>Limitations &amp; Path to Production</a:t>
            </a:r>
          </a:p>
        </p:txBody>
      </p:sp>
      <p:sp>
        <p:nvSpPr>
          <p:cNvPr id="6" name="TextBox 5"/>
          <p:cNvSpPr txBox="1"/>
          <p:nvPr/>
        </p:nvSpPr>
        <p:spPr>
          <a:xfrm>
            <a:off x="640080" y="1417320"/>
            <a:ext cx="10881360" cy="4846320"/>
          </a:xfrm>
          <a:prstGeom prst="rect">
            <a:avLst/>
          </a:prstGeom>
          <a:noFill/>
        </p:spPr>
        <p:txBody>
          <a:bodyPr wrap="square">
            <a:spAutoFit/>
          </a:bodyPr>
          <a:lstStyle/>
          <a:p>
            <a:pPr>
              <a:spcBef>
                <a:spcPts val="1400"/>
              </a:spcBef>
            </a:pPr>
            <a:r>
              <a:rPr sz="1600" b="1" i="0">
                <a:solidFill>
                  <a:srgbClr val="B3001F"/>
                </a:solidFill>
                <a:latin typeface="Calibri"/>
              </a:rPr>
              <a:t>Known limitation:  </a:t>
            </a:r>
            <a:r>
              <a:rPr sz="1600" b="0" i="0">
                <a:solidFill>
                  <a:srgbClr val="0B2447"/>
                </a:solidFill>
                <a:latin typeface="Calibri"/>
              </a:rPr>
              <a:t>0.90+ AUCs are unusually strong because engineered features are correlated with how the synthetic labels were built — real data will likely perform lower.</a:t>
            </a:r>
          </a:p>
          <a:p>
            <a:pPr>
              <a:spcBef>
                <a:spcPts val="1400"/>
              </a:spcBef>
            </a:pPr>
            <a:r>
              <a:rPr sz="1600" b="1" i="0">
                <a:solidFill>
                  <a:srgbClr val="B3001F"/>
                </a:solidFill>
                <a:latin typeface="Calibri"/>
              </a:rPr>
              <a:t>One seam to swap:  </a:t>
            </a:r>
            <a:r>
              <a:rPr sz="1600" b="0" i="0">
                <a:solidFill>
                  <a:srgbClr val="0B2447"/>
                </a:solidFill>
                <a:latin typeface="Calibri"/>
              </a:rPr>
              <a:t>src/config.py's file paths are the ONLY place a real core-banking source plugs in — nothing downstream (features, models, dashboard) needs to change.</a:t>
            </a:r>
          </a:p>
          <a:p>
            <a:pPr>
              <a:spcBef>
                <a:spcPts val="1400"/>
              </a:spcBef>
            </a:pPr>
            <a:r>
              <a:rPr sz="1600" b="1" i="0">
                <a:solidFill>
                  <a:srgbClr val="B3001F"/>
                </a:solidFill>
                <a:latin typeface="Calibri"/>
              </a:rPr>
              <a:t>Must be recalibrated:  </a:t>
            </a:r>
            <a:r>
              <a:rPr sz="1600" b="0" i="0">
                <a:solidFill>
                  <a:srgbClr val="0B2447"/>
                </a:solidFill>
                <a:latin typeface="Calibri"/>
              </a:rPr>
              <a:t>DI threshold, PFaR decline %, model hyperparameters, the Cox-vs-RSF decision — all tuned on synthetic data, not assumed to transfer.</a:t>
            </a:r>
          </a:p>
        </p:txBody>
      </p:sp>
      <p:sp>
        <p:nvSpPr>
          <p:cNvPr id="7" name="TextBox 6"/>
          <p:cNvSpPr txBox="1"/>
          <p:nvPr/>
        </p:nvSpPr>
        <p:spPr>
          <a:xfrm>
            <a:off x="457200" y="6537960"/>
            <a:ext cx="8229600" cy="274320"/>
          </a:xfrm>
          <a:prstGeom prst="rect">
            <a:avLst/>
          </a:prstGeom>
          <a:noFill/>
        </p:spPr>
        <p:txBody>
          <a:bodyPr wrap="none">
            <a:spAutoFit/>
          </a:bodyPr>
          <a:lstStyle/>
          <a:p>
            <a:r>
              <a:rPr sz="900" b="0" i="0">
                <a:solidFill>
                  <a:srgbClr val="64748B"/>
                </a:solidFill>
                <a:latin typeface="Calibri"/>
              </a:rPr>
              <a:t>CIB Early Warning System  •  Agastya Sharma  •  github.com/agastyasharma20/cib-ews</a:t>
            </a:r>
          </a:p>
        </p:txBody>
      </p:sp>
      <p:sp>
        <p:nvSpPr>
          <p:cNvPr id="8" name="TextBox 7"/>
          <p:cNvSpPr txBox="1"/>
          <p:nvPr/>
        </p:nvSpPr>
        <p:spPr>
          <a:xfrm>
            <a:off x="11247120" y="6537960"/>
            <a:ext cx="548640" cy="274320"/>
          </a:xfrm>
          <a:prstGeom prst="rect">
            <a:avLst/>
          </a:prstGeom>
          <a:noFill/>
        </p:spPr>
        <p:txBody>
          <a:bodyPr wrap="none">
            <a:spAutoFit/>
          </a:bodyPr>
          <a:lstStyle/>
          <a:p>
            <a:pPr algn="r"/>
            <a:r>
              <a:rPr sz="900" b="0" i="0">
                <a:solidFill>
                  <a:srgbClr val="64748B"/>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48840"/>
            <a:ext cx="12191695" cy="50800"/>
          </a:xfrm>
          <a:prstGeom prst="rect">
            <a:avLst/>
          </a:prstGeom>
          <a:solidFill>
            <a:srgbClr val="E4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77440"/>
            <a:ext cx="10360152" cy="914400"/>
          </a:xfrm>
          <a:prstGeom prst="rect">
            <a:avLst/>
          </a:prstGeom>
          <a:noFill/>
        </p:spPr>
        <p:txBody>
          <a:bodyPr wrap="none">
            <a:spAutoFit/>
          </a:bodyPr>
          <a:lstStyle/>
          <a:p>
            <a:pPr algn="ctr"/>
            <a:r>
              <a:rPr sz="4000" b="1" i="0">
                <a:solidFill>
                  <a:srgbClr val="FFFFFF"/>
                </a:solidFill>
                <a:latin typeface="Calibri"/>
              </a:rPr>
              <a:t>Thank You</a:t>
            </a:r>
          </a:p>
        </p:txBody>
      </p:sp>
      <p:sp>
        <p:nvSpPr>
          <p:cNvPr id="5" name="TextBox 4"/>
          <p:cNvSpPr txBox="1"/>
          <p:nvPr/>
        </p:nvSpPr>
        <p:spPr>
          <a:xfrm>
            <a:off x="914400" y="3474720"/>
            <a:ext cx="10360152" cy="1097280"/>
          </a:xfrm>
          <a:prstGeom prst="rect">
            <a:avLst/>
          </a:prstGeom>
          <a:noFill/>
        </p:spPr>
        <p:txBody>
          <a:bodyPr wrap="none">
            <a:spAutoFit/>
          </a:bodyPr>
          <a:lstStyle/>
          <a:p>
            <a:pPr algn="ctr"/>
            <a:r>
              <a:rPr sz="2000" b="1" i="0">
                <a:solidFill>
                  <a:srgbClr val="FFFFFF"/>
                </a:solidFill>
                <a:latin typeface="Calibri"/>
              </a:rPr>
              <a:t>Agastya Sharma</a:t>
            </a:r>
          </a:p>
          <a:p>
            <a:pPr algn="ctr"/>
            <a:r>
              <a:rPr sz="1500" b="0" i="0">
                <a:solidFill>
                  <a:srgbClr val="FFC1CC"/>
                </a:solidFill>
                <a:latin typeface="Calibri"/>
              </a:rPr>
              <a:t>work.agastya20@gmail.com  •  github.com/agastyasharma20/cib-ews</a:t>
            </a:r>
          </a:p>
        </p:txBody>
      </p:sp>
      <p:sp>
        <p:nvSpPr>
          <p:cNvPr id="6" name="TextBox 5"/>
          <p:cNvSpPr txBox="1"/>
          <p:nvPr/>
        </p:nvSpPr>
        <p:spPr>
          <a:xfrm>
            <a:off x="914400" y="4846320"/>
            <a:ext cx="10360152" cy="548640"/>
          </a:xfrm>
          <a:prstGeom prst="rect">
            <a:avLst/>
          </a:prstGeom>
          <a:noFill/>
        </p:spPr>
        <p:txBody>
          <a:bodyPr wrap="none">
            <a:spAutoFit/>
          </a:bodyPr>
          <a:lstStyle/>
          <a:p>
            <a:pPr algn="ctr"/>
            <a:r>
              <a:rPr sz="1300" b="0" i="1">
                <a:solidFill>
                  <a:srgbClr val="CBD5E1"/>
                </a:solidFill>
                <a:latin typeface="Calibri"/>
              </a:rPr>
              <a:t>Full methodology, every result, and the code: see docs/methodology.md in the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