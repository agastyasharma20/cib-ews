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67528" y="1051560"/>
            <a:ext cx="14630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0" i="0">
                <a:solidFill>
                  <a:srgbClr val="155E75"/>
                </a:solidFill>
                <a:latin typeface="Calibri"/>
              </a:rPr>
              <a:t>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CIB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BD5E1"/>
                </a:solidFill>
                <a:latin typeface="Calibri"/>
              </a:rPr>
              <a:t>A 30–90 Day Silent-Deterioration Risk Model for a Current Account / CIB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DD3FC"/>
                </a:solidFill>
                <a:latin typeface="Calibri"/>
              </a:rPr>
              <a:t>Agastya Sharma  •  Data Science Internship Portfolio Project  •  github.com/agastyasharma20/cib-ews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FCD34D"/>
                </a:solidFill>
                <a:latin typeface="Calibri"/>
              </a:rPr>
              <a:t>⚠ Built entirely on synthetic data — not affiliated with or endorsed by HDFC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1. Business problem — why silent deterioration, not closure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2. Approach — end-to-end pipeline, 9 phases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3. Synthetic data &amp; the deterioration index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4. Feature engineering — 5 signal groups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5. Model results — baseline → tuned core model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6. Explainability — SHAP reason codes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7. Risk sizing &amp; actions — PFaR + RM recommendations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8. Survival analysis — estimating WHEN, not just IF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9. Graph feature experiment — an honest negative result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10. The dashboard, limitations, and path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WHY THIS PROJECT EXISTS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1900" b="1" i="0">
                <a:solidFill>
                  <a:srgbClr val="155E75"/>
                </a:solidFill>
                <a:latin typeface="Calibri"/>
              </a:rPr>
              <a:t>Not closure —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large CA/CIB customers keep the account technically open while quietly shifting balances, transaction flow, payroll, and trade activity to a competing bank.</a:t>
            </a:r>
          </a:p>
          <a:p>
            <a:pPr>
              <a:spcBef>
                <a:spcPts val="1800"/>
              </a:spcBef>
            </a:pPr>
            <a:r>
              <a:rPr sz="1900" b="1" i="0">
                <a:solidFill>
                  <a:srgbClr val="155E75"/>
                </a:solidFill>
                <a:latin typeface="Calibri"/>
              </a:rPr>
              <a:t>Reactive today —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RMs typically act only once balance erosion is already visible in monthly reports — by then, most of the wallet share is usually already gone.</a:t>
            </a:r>
          </a:p>
          <a:p>
            <a:pPr>
              <a:spcBef>
                <a:spcPts val="1800"/>
              </a:spcBef>
            </a:pPr>
            <a:r>
              <a:rPr sz="1900" b="1" i="0">
                <a:solidFill>
                  <a:srgbClr val="155E75"/>
                </a:solidFill>
                <a:latin typeface="Calibri"/>
              </a:rPr>
              <a:t>The ask —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a system that flags this kind of silent deterioration 30–90 days in advance, explains WHY, estimates roughly WHEN, sizes the exposure, and recommends a specific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9 PHASES, ONE PIPELINE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End-to-End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1051560"/>
          </a:xfrm>
          <a:prstGeom prst="roundRect">
            <a:avLst/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Synthetic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383280" cy="105156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Labeling &amp;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54480"/>
            <a:ext cx="3383280" cy="1051560"/>
          </a:xfrm>
          <a:prstGeom prst="roundRect">
            <a:avLst/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Baseline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3383280" cy="105156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Tuned Core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26080"/>
            <a:ext cx="3383280" cy="1051560"/>
          </a:xfrm>
          <a:prstGeom prst="roundRect">
            <a:avLst/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Explainability (SHAP)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26080"/>
            <a:ext cx="3383280" cy="105156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PFaR + RM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97680"/>
            <a:ext cx="3383280" cy="1051560"/>
          </a:xfrm>
          <a:prstGeom prst="roundRect">
            <a:avLst/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Survival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297680"/>
            <a:ext cx="3383280" cy="105156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Graph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297680"/>
            <a:ext cx="3383280" cy="1051560"/>
          </a:xfrm>
          <a:prstGeom prst="roundRect">
            <a:avLst/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Every stage reads/writes through src/config.py's file paths — a real data source swaps in at ONE seam, nothing downstream rebuilds.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1 — WITH HIDDEN GROUND TRUTH FOR VALIDATION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Synthetic Data: 4 Planted Cohorts</a:t>
            </a:r>
          </a:p>
        </p:txBody>
      </p:sp>
      <p:pic>
        <p:nvPicPr>
          <p:cNvPr id="6" name="Picture 5" descr="amb_trajectory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47" y="1280160"/>
            <a:ext cx="7620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5,000 customers × 18 months. stable (55%) / gradual (20%) / sudden (10%) / seasonal_false_positive (15%, deliberately NOT deterioration).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2 — PERCENTILE-RANKED, NOT A FLAT THRESHOLD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Deterioration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Composite score: AMB decline (35%) + transaction decline (30%) + digital decline (15%) + payroll/trade decline (20%)</a:t>
            </a:r>
          </a:p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Each component ranked against SAME-SEGMENT, SAME-MONTH peers — cancels out size differences and shared seasonality</a:t>
            </a:r>
          </a:p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A breach reverting within 2 months AND uncorroborated by other signals is filtered out as a harmless dip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657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True cohort (hidden ground truth)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Flag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F172A"/>
                          </a:solidFill>
                          <a:latin typeface="Calibri"/>
                        </a:rPr>
                        <a:t>sudden_deterioration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F172A"/>
                          </a:solidFill>
                          <a:latin typeface="Calibri"/>
                        </a:rPr>
                        <a:t>gradual_deterioration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F172A"/>
                          </a:solidFill>
                          <a:latin typeface="Calibri"/>
                        </a:rPr>
                        <a:t>seasonal_false_positive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F172A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37947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Precision 98.9%  •  Recall 98.3%</a:t>
            </a:r>
          </a:p>
          <a:p>
            <a:pPr>
              <a:spcBef>
                <a:spcPts val="1400"/>
              </a:spcBef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Median detection lag vs. true onset: 2 months (sudden), 4 months (gradual)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2B — ALL LEAKAGE-SAFE (TRAILING DATA ONLY)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Feature Engineering — 5 Groups, 22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#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1. Balance &amp; Liquidity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amb_trend_slope_3m, seasonal-adjusted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2. Transaction &amp; Digital Activity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txn value trend, digital channel share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3. Product &amp; Wallet-Share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payroll regularity score, trade utilization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4. Network &amp; Counterparty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competitor-bank transaction share, HHI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5. Relationship &amp;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tenure, complaint/service-ticket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Same grouping reused end-to-end: reason codes (Phase 5) and the RM-action mapping (Phase 6) key off these exact 5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PHASES 3–5 — 90-DAY HORIZON SHOWN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Model Results — Baseline → Tuned Core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920240"/>
                <a:gridCol w="19202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Top-decile lift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F172A"/>
                          </a:solidFill>
                          <a:latin typeface="Calibri"/>
                        </a:rPr>
                        <a:t>Logistic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5.85x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F172A"/>
                          </a:solidFill>
                          <a:latin typeface="Calibri"/>
                        </a:rPr>
                        <a:t>LightGBM (tuned)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0.854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6.16x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F172A"/>
                          </a:solidFill>
                          <a:latin typeface="Calibri"/>
                        </a:rPr>
                        <a:t>XGBoost (tuned) — CHOSEN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  <a:latin typeface="Calibri"/>
                        </a:rPr>
                        <a:t>6.29x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063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Chosen on PR-AUC, not ROC-AUC — at a ~6-15% positive rate, ROC-AUC can look strong while precision in the actionable top slice is mediocre.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LightGBM's PR-AUC looked competitive, but its precision/recall COLLAPSED TO 0 at the default 0.5 threshold — miscalibrated probabilities, caught by checking beyond the headline metric.</a:t>
            </a:r>
          </a:p>
        </p:txBody>
      </p:sp>
      <p:pic>
        <p:nvPicPr>
          <p:cNvPr id="8" name="Picture 7" descr="core_gbm_xgboost_deteriorates_in_90d_roc_pr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4617720"/>
            <a:ext cx="585216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5 — FROM A SCORE TO A STORY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Explainability — SHAP Reason 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SHAP TreeExplainer computes PER-CUSTOMER attributions — not just global feature importance</a:t>
            </a:r>
          </a:p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Raw features grouped into plain-language driver labels BEFORE ranking (3 distinct stories, not 1 story 3 times)</a:t>
            </a:r>
          </a:p>
          <a:p>
            <a:pPr>
              <a:spcBef>
                <a:spcPts val="10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Ranked by signed SHAP sum, not magnitude — a protective factor never crowds out the actual risk drivers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566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90d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Top 3 reason codes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Falling balances → Lower digital activity → Reduced payroll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Declining credits → Concentrating counterparties → Declining transactions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Narrowing product relationship → Rising complaints → Concentrating counterparties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6 — PFAR (PROBABILITY-WEIGHTED FUNDS AT RISK)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Risk Sizing &amp; 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155E75"/>
                </a:solidFill>
                <a:latin typeface="Calibri"/>
              </a:rPr>
              <a:t>PFaR  =  90-day risk score  ×  (current balance × empirically-calibrated expected decline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Decline % calibrated from OUR OWN historically-confirmed deterioration cases — never from the hidden ground truth (that would be leakage a real deployment could never replicate)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Decomposed into a driver TYPE — liquidity / relationship / competitor — from the customer's top reason code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 RM action mapping: a swappable rules-based lookup (top reason code → action), interface shaped for a future contextual-bandit upgrade once real RM-outcome data exists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617720"/>
          <a:ext cx="10607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7607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Reason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Recommended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Falling balances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Discuss liquidity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Rising competitor-transfer share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Proactive wallet-share conversation / pricing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Calibri"/>
                        </a:rPr>
                        <a:t>Reduced payroll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  <a:latin typeface="Calibri"/>
                        </a:rPr>
                        <a:t>Assess payroll migration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7 — TIME-TO-DETERIORATION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Survival Analysis — Estimating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Tried first: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CoxPHFitter — the standard approach.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Checked, not assumed: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check_assumptions() flagged 11 of 24 covariates (46%) violating proportional hazards — pervasive, not borderline.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Switched to: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Random Survival Forest — no such assumption. Concordance index 0.659 vs. Cox's 0.591.</a:t>
            </a:r>
          </a:p>
        </p:txBody>
      </p:sp>
      <p:pic>
        <p:nvPicPr>
          <p:cNvPr id="7" name="Picture 6" descr="survival_exampl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367" y="1371600"/>
            <a:ext cx="5394960" cy="359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0.659 is modest next to the classifiers' 0.90+ AUC — expected: this model gets ONE early snapshot per customer, not fresh features every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8 (STRETCH) — NETWORKX WALLET-LEAKAGE GRAPH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Graph Feature — An Honest Negative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90d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Before (no 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0.9585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0.9027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90d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After (+ graph feature)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0.9580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0.9019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0175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No lift: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flat to very slightly worse at every horizon; ranks 14th–25th of 27 features by SHAP.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Root cause, confirmed: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graph feature correlates 0.88–0.91 with an existing Phase 2 feature built from the same transactions — methodologically distinct, mostly redundant information.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Why keep it: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shows the negative result was investigated and explained, not hidden — and the graph is the right extension point once real counterparty-entity data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PHASE 9 — RM COCKPIT + PORTFOLIO VIEW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Dashboard</a:t>
            </a:r>
          </a:p>
        </p:txBody>
      </p:sp>
      <p:pic>
        <p:nvPicPr>
          <p:cNvPr id="6" name="Picture 5" descr="dashboard_rm_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80160"/>
            <a:ext cx="10881360" cy="37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RM Cockpit: PFaR-ranked, filterable, with plain-language reason codes and an inline survival-curve sparkline per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DD3FC"/>
                </a:solidFill>
                <a:latin typeface="Calibri"/>
              </a:rPr>
              <a:t>BEING DIRECT ABOUT WHAT CHANGES WITH REAL DATA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Limitations &amp; Path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Known limitation: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0.90+ AUCs are unusually strong because engineered features are correlated with how the synthetic labels were built — real data will likely perform lower.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One seam to swap: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src/config.py's file paths are the ONLY place a real core-banking source plugs in — nothing downstream (features, models, dashboard) needs to change.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Must be recalibrated: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DI threshold, PFaR decline %, model hyperparameters, the Cox-vs-RSF decision — all tuned on synthetic data, not assumed to transfer.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55E75"/>
                </a:solidFill>
                <a:latin typeface="Calibri"/>
              </a:rPr>
              <a:t>Becomes possible for the first time: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full customer↔customer wallet-leakage graph, and a contextual-bandit RM-action recommender, once real entity and outcome data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CIB Early Warning System  •  Agastya Sharma  •  github.com/agastyasharma20/cib-ews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Agastya Sharma</a:t>
            </a:r>
          </a:p>
          <a:p>
            <a:pPr algn="ctr"/>
            <a:r>
              <a:rPr sz="1500" b="0" i="0">
                <a:solidFill>
                  <a:srgbClr val="7DD3FC"/>
                </a:solidFill>
                <a:latin typeface="Calibri"/>
              </a:rPr>
              <a:t>work.agastya20@gmail.com  •  github.com/agastyasharma20/cib-ews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CBD5E1"/>
                </a:solidFill>
                <a:latin typeface="Calibri"/>
              </a:rPr>
              <a:t>Full methodology, every result, and the code: see docs/methodology.md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